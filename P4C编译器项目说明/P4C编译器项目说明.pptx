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13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3" Type="http://schemas.openxmlformats.org/officeDocument/2006/relationships/slide" Target="slides/slide3.xml" /><Relationship Id="rId2" Type="http://schemas.openxmlformats.org/officeDocument/2006/relationships/slide" Target="slides/slide2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Relationship Id="rId16" Type="http://schemas.openxmlformats.org/officeDocument/2006/relationships/presProps" Target="presProps.xml" /><Relationship Id="rId12" Type="http://schemas.openxmlformats.org/officeDocument/2006/relationships/slide" Target="slides/slide12.xml" /><Relationship Id="rId15" Type="http://schemas.openxmlformats.org/officeDocument/2006/relationships/notesMaster" Target="notesMasters/notesMaster1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5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6.sv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7.sv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" name="" descr="&lt;Slide style={{ width: 1280, height: 720, background: '#FAFAF7', position: 'relative' }}&gt;&#10;  &lt;Box style={{ position: 'absolute', top: 64, left: 70, width: 56, height: 3, background: '#185FA5' }} /&gt;&#10;  &lt;Box style={{ position: 'absolute', top: 92, left: 70, width: 640 }}&gt;&#10;    &lt;Text style={{ fontSize: 14, color: '#6B7280', letterSpacing: 3 }}&gt;HARDWARE DESIGN · 技术评审 · 2026-09&lt;/Text&gt;&#10;    &lt;Text style={{ fontSize: 72, fontWeight: 'bold', color: '#1F2429', lineHeight: 1.15, marginTop: 26 }}&gt;P4 → Chisel&lt;br /&gt;编译器&lt;/Text&gt;&#10;    &lt;Text style={{ fontSize: 18, color: '#6B7280', marginTop: 30, lineHeight: 1.7 }}&gt;把 P4 报文处理编译为固化的 Chisel RTL&lt;br /&gt;方法论参考 Google XLS：DSL → IR → 调度 → 后端&lt;/Text&gt;&#10;  &lt;/Box&gt;&#10;  &lt;Box style={{ position: 'absolute', right: 70, bottom: 66 }}&gt;&#10;    &lt;svg width={400} height={280} viewBox='0 0 400 280'&gt;&#10;      &lt;line x1='30' y1='30' x2='30' y2='250' stroke='#1F2429' strokeWidth='2' /&gt;&#10;      &lt;rect x='18' y='22' width='24' height='16' fill='#185FA5' /&gt;&#10;      &lt;rect x='18' y='82' width='24' height='16' fill='none' stroke='#1F2429' strokeWidth='2' /&gt;&#10;      &lt;rect x='18' y='142' width='24' height='16' fill='none' stroke='#1F2429' strokeWidth='2' /&gt;&#10;      &lt;rect x='18' y='202' width='24' height='16' fill='none' stroke='#1F2429' strokeWidth='2' /&gt;&#10;      &lt;text x='58' y='36' fontFamily='JetBrains Mono' fontSize='16' fill='#1F2429'&gt;FRONTEND&lt;/text&gt;&#10;      &lt;text x='58' y='96' fontFamily='JetBrains Mono' fontSize='16' fill='#1F2429'&gt;IR / PASSES&lt;/text&gt;&#10;      &lt;text x='58' y='156' fontFamily='JetBrains Mono' fontSize='16' fill='#185FA5'&gt;SCHEDULE&lt;/text&gt;&#10;      &lt;text x='58' y='216' fontFamily='JetBrains Mono' fontSize='16' fill='#1F2429'&gt;CHISEL CODEGEN&lt;/text&gt;&#10;      &lt;line x1='300' y1='150' x2='380' y2='150' stroke='#D9D9D2' strokeWidth='2' /&gt;&#10;      &lt;line x1='380' y1='150' x2='380' y2='60' stroke='#D9D9D2' strokeWidth='2' /&gt;&#10;      &lt;text x='300' y='180' fontFamily='JetBrains Mono' fontSize='12' fill='#6B7280'&gt;VERILOG&lt;/text&gt;&#10;    &lt;/svg&gt;&#10;  &lt;/Box&gt;&#10;  &lt;Box style={{ position: 'absolute', left: 70, bottom: 60, flexDirection: 'row', alignItems: 'center', gap: 8 }}&gt;&#10;    &lt;Box style={{ width: 10, height: 10, background: '#185FA5' }} /&gt;&#10;    &lt;Text style={{ fontSize: 11, color: '#6B7280' }}&gt;P4C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66750" y="609600"/>
            <a:ext cx="533400" cy="28575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66750" y="876300"/>
            <a:ext cx="6096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6B7280"/>
                </a:solidFill>
                <a:latin typeface="Microsoft YaHei"/>
                <a:ea typeface="Microsoft YaHei"/>
              </a:rPr>
              <a:t>HARDWARE DESIGN · </a:t>
            </a:r>
            <a:r>
              <a:rPr lang="zh-CN" sz="1050" spc="225">
                <a:solidFill>
                  <a:srgbClr val="6B7280"/>
                </a:solidFill>
                <a:latin typeface="Microsoft YaHei"/>
                <a:ea typeface="Microsoft YaHei"/>
              </a:rPr>
              <a:t>技术评审</a:t>
            </a:r>
            <a:r>
              <a:rPr lang="en-US" sz="1050" spc="225">
                <a:solidFill>
                  <a:srgbClr val="6B7280"/>
                </a:solidFill>
                <a:latin typeface="Microsoft YaHei"/>
                <a:ea typeface="Microsoft YaHei"/>
              </a:rPr>
              <a:t> · 2026-09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66750" y="1285875"/>
            <a:ext cx="6096000" cy="18954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5400" b="1">
                <a:solidFill>
                  <a:srgbClr val="1F2429"/>
                </a:solidFill>
                <a:latin typeface="Microsoft YaHei"/>
                <a:ea typeface="Microsoft YaHei"/>
              </a:rPr>
              <a:t>P4 → Chisel</a:t>
            </a:r>
            <a:endParaRPr/>
          </a:p>
          <a:p>
            <a:pPr>
              <a:lnSpc>
                <a:spcPct val="114999"/>
              </a:lnSpc>
            </a:pPr>
            <a:r>
              <a:rPr lang="zh-CN" sz="5400" b="1">
                <a:solidFill>
                  <a:srgbClr val="1F2429"/>
                </a:solidFill>
                <a:latin typeface="Microsoft YaHei"/>
                <a:ea typeface="Microsoft YaHei"/>
              </a:rPr>
              <a:t>编译器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66750" y="3467100"/>
            <a:ext cx="6096000" cy="7048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6B7280"/>
                </a:solidFill>
                <a:latin typeface="Microsoft YaHei"/>
                <a:ea typeface="Microsoft YaHei"/>
              </a:rPr>
              <a:t>把</a:t>
            </a:r>
            <a:r>
              <a:rPr lang="en-US" sz="1350">
                <a:solidFill>
                  <a:srgbClr val="6B7280"/>
                </a:solidFill>
                <a:latin typeface="Microsoft YaHei"/>
                <a:ea typeface="Microsoft YaHei"/>
              </a:rPr>
              <a:t> P4 </a:t>
            </a:r>
            <a:r>
              <a:rPr lang="zh-CN" sz="1350">
                <a:solidFill>
                  <a:srgbClr val="6B7280"/>
                </a:solidFill>
                <a:latin typeface="Microsoft YaHei"/>
                <a:ea typeface="Microsoft YaHei"/>
              </a:rPr>
              <a:t>报文处理编译为固化的</a:t>
            </a:r>
            <a:r>
              <a:rPr lang="en-US" sz="1350">
                <a:solidFill>
                  <a:srgbClr val="6B7280"/>
                </a:solidFill>
                <a:latin typeface="Microsoft YaHei"/>
                <a:ea typeface="Microsoft YaHei"/>
              </a:rPr>
              <a:t> Chisel RTL</a:t>
            </a:r>
            <a:endParaRPr/>
          </a:p>
          <a:p>
            <a:pPr>
              <a:lnSpc>
                <a:spcPct val="170000"/>
              </a:lnSpc>
            </a:pPr>
            <a:r>
              <a:rPr lang="zh-CN" sz="1350">
                <a:solidFill>
                  <a:srgbClr val="6B7280"/>
                </a:solidFill>
                <a:latin typeface="Microsoft YaHei"/>
                <a:ea typeface="Microsoft YaHei"/>
              </a:rPr>
              <a:t>方法论参考</a:t>
            </a:r>
            <a:r>
              <a:rPr lang="en-US" sz="1350">
                <a:solidFill>
                  <a:srgbClr val="6B7280"/>
                </a:solidFill>
                <a:latin typeface="Microsoft YaHei"/>
                <a:ea typeface="Microsoft YaHei"/>
              </a:rPr>
              <a:t> Google XLS</a:t>
            </a:r>
            <a:r>
              <a:rPr lang="zh-CN" sz="1350">
                <a:solidFill>
                  <a:srgbClr val="6B7280"/>
                </a:solidFill>
                <a:latin typeface="Microsoft YaHei"/>
                <a:ea typeface="Microsoft YaHei"/>
              </a:rPr>
              <a:t>：</a:t>
            </a:r>
            <a:r>
              <a:rPr lang="en-US" sz="1350">
                <a:solidFill>
                  <a:srgbClr val="6B7280"/>
                </a:solidFill>
                <a:latin typeface="Microsoft YaHei"/>
                <a:ea typeface="Microsoft YaHei"/>
              </a:rPr>
              <a:t>DSL → IR → </a:t>
            </a:r>
            <a:r>
              <a:rPr lang="zh-CN" sz="1350">
                <a:solidFill>
                  <a:srgbClr val="6B7280"/>
                </a:solidFill>
                <a:latin typeface="Microsoft YaHei"/>
                <a:ea typeface="Microsoft YaHei"/>
              </a:rPr>
              <a:t>调度</a:t>
            </a:r>
            <a:r>
              <a:rPr lang="en-US" sz="1350">
                <a:solidFill>
                  <a:srgbClr val="6B7280"/>
                </a:solidFill>
                <a:latin typeface="Microsoft YaHei"/>
                <a:ea typeface="Microsoft YaHei"/>
              </a:rPr>
              <a:t> → </a:t>
            </a:r>
            <a:r>
              <a:rPr lang="zh-CN" sz="1350">
                <a:solidFill>
                  <a:srgbClr val="6B7280"/>
                </a:solidFill>
                <a:latin typeface="Microsoft YaHei"/>
                <a:ea typeface="Microsoft YaHei"/>
              </a:rPr>
              <a:t>后端</a:t>
            </a:r>
            <a:endParaRPr/>
          </a:p>
        </p:txBody>
      </p:sp>
      <p:pic>
        <p:nvPicPr>
          <p:cNvPr id="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715250" y="3562350"/>
            <a:ext cx="3810000" cy="2667000"/>
          </a:xfrm>
          <a:prstGeom prst="rect">
            <a:avLst/>
          </a:prstGeom>
          <a:ln/>
        </p:spPr>
      </p:pic>
      <p:sp>
        <p:nvSpPr>
          <p:cNvPr id="8" name=""/>
          <p:cNvSpPr/>
          <p:nvPr/>
        </p:nvSpPr>
        <p:spPr>
          <a:xfrm rot="0" flipH="0" flipV="0">
            <a:off x="666750" y="6172200"/>
            <a:ext cx="95250" cy="9525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38200" y="6153150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B7280"/>
                </a:solidFill>
                <a:latin typeface="Microsoft YaHei"/>
                <a:ea typeface="Microsoft YaHei"/>
              </a:rPr>
              <a:t>P4C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76" name="" descr="&lt;Slide style={{ width: 1280, height: 720, background: '#FAFAF7', padding: '20px 70px 0', flexDirection: 'column' }}&gt;&#10;  &lt;Box style={{ height: 90, justifyContent: 'flex-end' }}&gt;&#10;    &lt;Text style={{ fontSize: 34, fontWeight: 'bold', color: '#1F2429' }}&gt;本次评审覆盖什么&lt;/Text&gt;&#10;    &lt;Box style={{ width: 56, height: 3, background: '#185FA5', marginTop: 12 }} /&gt;&#10;  &lt;/Box&gt;&#10;  &lt;Box style={{ height: 520, marginTop: 20, flexDirection: 'row' }}&gt;&#10;    &lt;Box style={{ width: 340, justifyContent: 'flex-start' }}&gt;&#10;      &lt;Text style={{ fontSize: 17, color: '#6B7280', lineHeight: 1.8, marginTop: 8 }}&gt;项目三天内完成五个里程碑与两项增强的交付。本次评审按「是什么 → 怎么做 → 做得怎样」三条线展开，机制页保留实现细节，欢迎随时打断讨论。&lt;/Text&gt;&#10;    &lt;/Box&gt;&#10;    &lt;Box style={{ flex: 1, paddingLeft: 60, flexDirection: 'column', justifyContent: 'space-between', paddingTop: 8, paddingBottom: 8 }}&gt;&#10;      &lt;Box style={{ flexDirection: 'row', alignItems: 'flex-start', gap: 28 }}&gt;&#10;        &lt;Text style={{ fontSize: 44, fontWeight: 'bold', color: '#B5D4F4' }}&gt;01&lt;/Text&gt;&#10;        &lt;Box style={{ flex: 1 }}&gt;&#10;          &lt;Text style={{ fontSize: 22, fontWeight: 'bold', color: '#1F2429' }}&gt;概览与架构&lt;/Text&gt;&#10;          &lt;Text style={{ fontSize: 15, color: '#6B7280', lineHeight: 1.6, marginTop: 8 }}&gt;项目定位与 XLS 方法论、五级编译架构、M1~M5 里程碑时间线——对齐工具的能力边界与设计取舍。&lt;/Text&gt;&#10;        &lt;/Box&gt;&#10;      &lt;/Box&gt;&#10;      &lt;Box style={{ height: 1, background: '#D9D9D2' }} /&gt;&#10;      &lt;Box style={{ flexDirection: 'row', alignItems: 'flex-start', gap: 28 }}&gt;&#10;        &lt;Text style={{ fontSize: 44, fontWeight: 'bold', color: '#B5D4F4' }}&gt;02&lt;/Text&gt;&#10;        &lt;Box style={{ flex: 1 }}&gt;&#10;          &lt;Text style={{ fontSize: 22, fontWeight: 'bold', color: '#1F2429' }}&gt;关键机制&lt;/Text&gt;&#10;          &lt;Text style={{ fontSize: 15, color: '#6B7280', lineHeight: 1.6, marginTop: 8 }}&gt;ActionDAG 核心 IR、路径切拍（加权分桶 + valid 链 + 编译指示）、运行时表项——三个最有含金量的设计。&lt;/Text&gt;&#10;        &lt;/Box&gt;&#10;      &lt;/Box&gt;&#10;      &lt;Box style={{ height: 1, background: '#D9D9D2' }} /&gt;&#10;      &lt;Box style={{ flexDirection: 'row', alignItems: 'flex-start', gap: 28 }}&gt;&#10;        &lt;Text style={{ fontSize: 44, fontWeight: 'bold', color: '#B5D4F4' }}&gt;03&lt;/Text&gt;&#10;        &lt;Box style={{ flex: 1 }}&gt;&#10;          &lt;Text style={{ fontSize: 22, fontWeight: 'bold', color: '#1F2429' }}&gt;质量与展望&lt;/Text&gt;&#10;          &lt;Text style={{ fontSize: 15, color: '#6B7280', lineHeight: 1.6, marginTop: 8 }}&gt;零回归 diff 门禁与 357 条回归、工具链用法，以及对照 XLS 的差距与后续路线。&lt;/Text&gt;&#10;        &lt;/Box&gt;&#10;      &lt;/Box&gt;&#10;    &lt;/Box&gt;&#10;  &lt;/Box&gt;&#10;  &lt;Box style={{ height: 30, marginTop: 14, flexDirection: 'row', alignItems: 'center', justifyContent: 'space-between' }}&gt;&#10;    &lt;Box style={{ flexDirection: 'row', alignItems: 'center', gap: 8 }}&gt;&#10;      &lt;Box style={{ width: 10, height: 10, background: '#185FA5' }} /&gt;&#10;      &lt;Text style={{ fontSize: 11, color: '#6B7280' }}&gt;P4C&lt;/Text&gt;&#10;    &lt;/Box&gt;&#10;    &lt;Text style={{ fontSize: 12, color: '#6B7280' }}&gt;02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66750" y="5143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429"/>
                </a:solidFill>
                <a:latin typeface="Microsoft YaHei"/>
                <a:ea typeface="Microsoft YaHei"/>
              </a:rPr>
              <a:t>本次评审覆盖什么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666750" y="1019175"/>
            <a:ext cx="533400" cy="28575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666750" y="1314450"/>
            <a:ext cx="3238500" cy="1400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6B7280"/>
                </a:solidFill>
                <a:latin typeface="Microsoft YaHei"/>
                <a:ea typeface="Microsoft YaHei"/>
              </a:rPr>
              <a:t>项目三天内完成五个里程碑与两项增强的交付。本次评审按「是什么</a:t>
            </a:r>
            <a:r>
              <a:rPr lang="en-US" sz="1275">
                <a:solidFill>
                  <a:srgbClr val="6B7280"/>
                </a:solidFill>
                <a:latin typeface="Microsoft YaHei"/>
                <a:ea typeface="Microsoft YaHei"/>
              </a:rPr>
              <a:t> → </a:t>
            </a:r>
            <a:r>
              <a:rPr lang="zh-CN" sz="1275">
                <a:solidFill>
                  <a:srgbClr val="6B7280"/>
                </a:solidFill>
                <a:latin typeface="Microsoft YaHei"/>
                <a:ea typeface="Microsoft YaHei"/>
              </a:rPr>
              <a:t>怎么做</a:t>
            </a:r>
            <a:r>
              <a:rPr lang="en-US" sz="1275">
                <a:solidFill>
                  <a:srgbClr val="6B7280"/>
                </a:solidFill>
                <a:latin typeface="Microsoft YaHei"/>
                <a:ea typeface="Microsoft YaHei"/>
              </a:rPr>
              <a:t> → </a:t>
            </a:r>
            <a:r>
              <a:rPr lang="zh-CN" sz="1275">
                <a:solidFill>
                  <a:srgbClr val="6B7280"/>
                </a:solidFill>
                <a:latin typeface="Microsoft YaHei"/>
                <a:ea typeface="Microsoft YaHei"/>
              </a:rPr>
              <a:t>做得怎样」三条线展开，机制页保留实现细节，欢迎随时打断讨论。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476750" y="1314450"/>
            <a:ext cx="4667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B5D4F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210175" y="1314450"/>
            <a:ext cx="63150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2429"/>
                </a:solidFill>
                <a:latin typeface="Microsoft YaHei"/>
                <a:ea typeface="Microsoft YaHei"/>
              </a:rPr>
              <a:t>概览与架构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5210175" y="1647825"/>
            <a:ext cx="63150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项目定位与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> XLS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方法论、五级编译架构、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>M1~M5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里程碑时间线——对齐工具的能力边界与设计取舍。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4476750" y="2590800"/>
            <a:ext cx="7048500" cy="9525"/>
          </a:xfrm>
          <a:prstGeom prst="rect">
            <a:avLst/>
          </a:prstGeom>
          <a:solidFill>
            <a:srgbClr val="D9D9D2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4476750" y="3276600"/>
            <a:ext cx="4667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B5D4F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5210175" y="3276600"/>
            <a:ext cx="63150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2429"/>
                </a:solidFill>
                <a:latin typeface="Microsoft YaHei"/>
                <a:ea typeface="Microsoft YaHei"/>
              </a:rPr>
              <a:t>关键机制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5210175" y="3609975"/>
            <a:ext cx="63150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>ActionDAG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核心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> IR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、路径切拍（加权分桶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> + valid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链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编译指示）、运行时表项——三个最有含金量的设计。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4476750" y="4829175"/>
            <a:ext cx="7048500" cy="9525"/>
          </a:xfrm>
          <a:prstGeom prst="rect">
            <a:avLst/>
          </a:prstGeom>
          <a:solidFill>
            <a:srgbClr val="D9D9D2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4476750" y="5505450"/>
            <a:ext cx="4667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B5D4F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5210175" y="5505450"/>
            <a:ext cx="63150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2429"/>
                </a:solidFill>
                <a:latin typeface="Microsoft YaHei"/>
                <a:ea typeface="Microsoft YaHei"/>
              </a:rPr>
              <a:t>质量与展望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5210175" y="5838825"/>
            <a:ext cx="63150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零回归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> diff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门禁与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> 357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条回归、工具链用法，以及对照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> XLS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的差距与后续路线。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66750" y="6419850"/>
            <a:ext cx="95250" cy="9525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838200" y="6400800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B7280"/>
                </a:solidFill>
                <a:latin typeface="Microsoft YaHei"/>
                <a:ea typeface="Microsoft YaHei"/>
              </a:rPr>
              <a:t>P4C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1172825" y="6400800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02 / 14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95" name="" descr="&lt;Slide style={{ width: 1280, height: 720, background: '#FAFAF7', position: 'relative' }}&gt;&#10;  &lt;Text style={{ position: 'absolute', top: 150, left: 70, fontSize: 150, fontWeight: 'bold', color: '#B5D4F4', lineHeight: 1 }}&gt;01&lt;/Text&gt;&#10;  &lt;Box style={{ position: 'absolute', top: 380, left: 74 }}&gt;&#10;    &lt;Box style={{ width: 56, height: 3, background: '#185FA5' }} /&gt;&#10;    &lt;Text style={{ fontSize: 44, fontWeight: 'bold', color: '#1F2429', marginTop: 24 }}&gt;概览与架构&lt;/Text&gt;&#10;    &lt;Text style={{ fontSize: 16, color: '#6B7280', marginTop: 18, lineHeight: 1.6 }}&gt;这个工具是什么、整体长什么样、走到哪一步了&lt;/Text&gt;&#10;  &lt;/Box&gt;&#10;  &lt;Text style={{ position: 'absolute', top: 620, left: 70, fontSize: 12, color: '#6B7280' }}&gt;OVERVIEW &amp;amp; ARCHITECTURE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66750" y="1428750"/>
            <a:ext cx="1590675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B5D4F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704850" y="3619500"/>
            <a:ext cx="533400" cy="28575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04850" y="3876675"/>
            <a:ext cx="32004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1F2429"/>
                </a:solidFill>
                <a:latin typeface="Microsoft YaHei"/>
                <a:ea typeface="Microsoft YaHei"/>
              </a:rPr>
              <a:t>概览与架构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704850" y="4552950"/>
            <a:ext cx="3200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这个工具是什么、整体长什么样、走到哪一步了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66750" y="5905500"/>
            <a:ext cx="1657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OVERVIEW &amp; ARCHITECTURE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02" name="" descr="&lt;Slide style={{ width: 1280, height: 720, background: '#FAFAF7', padding: '20px 70px 0', flexDirection: 'column' }}&gt;&#10;  &lt;Box style={{ height: 90, justifyContent: 'flex-end' }}&gt;&#10;    &lt;Text style={{ fontSize: 34, fontWeight: 'bold', color: '#1F2429' }}&gt;定位与方法论&lt;/Text&gt;&#10;    &lt;Box style={{ width: 56, height: 3, background: '#185FA5', marginTop: 12 }} /&gt;&#10;  &lt;/Box&gt;&#10;  &lt;Box style={{ height: 520, marginTop: 20, flexDirection: 'row', gap: 50 }}&gt;&#10;    &lt;Box style={{ width: 640, flexDirection: 'column', gap: 22, paddingTop: 6 }}&gt;&#10;      &lt;Text style={{ fontSize: 22, fontWeight: 'bold', color: '#1F2429' }}&gt;目标：交换机数据平面的「源码级固化」&lt;/Text&gt;&#10;      &lt;Text style={{ fontSize: 16, color: '#1F2429', lineHeight: 1.7 }}&gt;把 P4 描述的报文解析与 Match-Action 逻辑编译成&lt;strong&gt;可读、可裁剪、可与手写模块混用&lt;/strong&gt;的参数化 Chisel 源码，而非直接吐低级中间表示——最终经 FIRRTL 工具链落地 Verilog。&lt;/Text&gt;&#10;      &lt;Box style={{ height: 1, background: '#D9D9D2' }} /&gt;&#10;      &lt;Text style={{ fontSize: 22, fontWeight: 'bold', color: '#1F2429' }}&gt;范围决策：只支持标准 P4-16 + v1model&lt;/Text&gt;&#10;      &lt;Text style={{ fontSize: 16, color: '#1F2429', lineHeight: 1.7 }}&gt;不做 TNA/PSA 等厂商架构。子集先行、按里程碑收敛，是三天走完 M1~M5 的前提——&lt;strong&gt;范围收敛换迭代速度&lt;/strong&gt;，通用性留到能力验证之后。&lt;/Text&gt;&#10;      &lt;Box style={{ height: 1, background: '#D9D9D2' }} /&gt;&#10;      &lt;Text style={{ fontSize: 22, fontWeight: 'bold', color: '#1F2429' }}&gt;方法论：照搬 Google XLS 的骨架&lt;/Text&gt;&#10;      &lt;Text style={{ fontSize: 16, color: '#6B7280', lineHeight: 1.7 }}&gt;DSL → 核心数据流 IR → 优化 + 调度 → 后端。IR 承载全部优化，后端只做翻译；调度（插拍）是本项目 9 月新增的环节，由此获得时序收敛能力。&lt;/Text&gt;&#10;    &lt;/Box&gt;&#10;    &lt;Box style={{ flex: 1, alignItems: 'center', justifyContent: 'center' }}&gt;&#10;      &lt;svg width={400} height={330} viewBox='0 0 400 330'&gt;&#10;        &lt;rect x='20' y='20' width='360' height='2' fill='#D9D9D2' /&gt;&#10;        &lt;text x='20' y='50' fontFamily='JetBrains Mono' fontSize='13' fill='#6B7280'&gt;GOOGLE XLS&lt;/text&gt;&#10;        &lt;text x='20' y='90' fontFamily='JetBrains Mono' fontSize='14' fill='#1F2429'&gt;DSLX → IR → OPT → SCHED → Verilog&lt;/text&gt;&#10;        &lt;rect x='20' y='150' width='360' height='2' fill='#185FA5' /&gt;&#10;        &lt;text x='20' y='180' fontFamily='JetBrains Mono' fontSize='13' fill='#185FA5'&gt;P4C (本项目)&lt;/text&gt;&#10;        &lt;text x='20' y='220' fontFamily='JetBrains Mono' fontSize='14' fill='#1F2429'&gt;P4-16 → ActionDAG → OPT&lt;/text&gt;&#10;        &lt;text x='20' y='246' fontFamily='JetBrains Mono' fontSize='14' fill='#1F2429'&gt;→ SCHED → Chisel&lt;/text&gt;&#10;        &lt;text x='20' y='290' fontSize='13' fill='#6B7280'&gt;后端产出 Scala 源码而非网表，&lt;/text&gt;&#10;        &lt;text x='20' y='312' fontSize='13' fill='#6B7280'&gt;保留人读与手改的空间。&lt;/text&gt;&#10;      &lt;/svg&gt;&#10;    &lt;/Box&gt;&#10;  &lt;/Box&gt;&#10;  &lt;Box style={{ height: 30, marginTop: 14, flexDirection: 'row', alignItems: 'center', justifyContent: 'space-between' }}&gt;&#10;    &lt;Box style={{ flexDirection: 'row', alignItems: 'center', gap: 8 }}&gt;&#10;      &lt;Box style={{ width: 10, height: 10, background: '#185FA5' }} /&gt;&#10;      &lt;Text style={{ fontSize: 11, color: '#6B7280' }}&gt;P4C&lt;/Text&gt;&#10;    &lt;/Box&gt;&#10;    &lt;Text style={{ fontSize: 12, color: '#6B7280' }}&gt;04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66750" y="5143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429"/>
                </a:solidFill>
                <a:latin typeface="Microsoft YaHei"/>
                <a:ea typeface="Microsoft YaHei"/>
              </a:rPr>
              <a:t>定位与方法论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666750" y="1019175"/>
            <a:ext cx="533400" cy="28575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66750" y="1295400"/>
            <a:ext cx="6096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2429"/>
                </a:solidFill>
                <a:latin typeface="Microsoft YaHei"/>
                <a:ea typeface="Microsoft YaHei"/>
              </a:rPr>
              <a:t>目标：交换机数据平面的「源码级固化」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66750" y="1762125"/>
            <a:ext cx="6096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1F2429"/>
                </a:solidFill>
                <a:latin typeface="Microsoft YaHei"/>
                <a:ea typeface="Microsoft YaHei"/>
              </a:rPr>
              <a:t>把</a:t>
            </a:r>
            <a:r>
              <a:rPr lang="en-US" sz="1200">
                <a:solidFill>
                  <a:srgbClr val="1F2429"/>
                </a:solidFill>
                <a:latin typeface="Microsoft YaHei"/>
                <a:ea typeface="Microsoft YaHei"/>
              </a:rPr>
              <a:t> P4 </a:t>
            </a:r>
            <a:r>
              <a:rPr lang="zh-CN" sz="1200">
                <a:solidFill>
                  <a:srgbClr val="1F2429"/>
                </a:solidFill>
                <a:latin typeface="Microsoft YaHei"/>
                <a:ea typeface="Microsoft YaHei"/>
              </a:rPr>
              <a:t>描述的报文解析与</a:t>
            </a:r>
            <a:r>
              <a:rPr lang="en-US" sz="1200">
                <a:solidFill>
                  <a:srgbClr val="1F2429"/>
                </a:solidFill>
                <a:latin typeface="Microsoft YaHei"/>
                <a:ea typeface="Microsoft YaHei"/>
              </a:rPr>
              <a:t> Match-Action </a:t>
            </a:r>
            <a:r>
              <a:rPr lang="zh-CN" sz="1200">
                <a:solidFill>
                  <a:srgbClr val="1F2429"/>
                </a:solidFill>
                <a:latin typeface="Microsoft YaHei"/>
                <a:ea typeface="Microsoft YaHei"/>
              </a:rPr>
              <a:t>逻辑编译成</a:t>
            </a:r>
            <a:r>
              <a:rPr lang="zh-CN" sz="1200" b="1">
                <a:solidFill>
                  <a:srgbClr val="1F2429"/>
                </a:solidFill>
                <a:latin typeface="Microsoft YaHei"/>
                <a:ea typeface="Microsoft YaHei"/>
              </a:rPr>
              <a:t>可读、可裁剪、可与手写模块混用</a:t>
            </a:r>
            <a:r>
              <a:rPr lang="zh-CN" sz="1200">
                <a:solidFill>
                  <a:srgbClr val="1F2429"/>
                </a:solidFill>
                <a:latin typeface="Microsoft YaHei"/>
                <a:ea typeface="Microsoft YaHei"/>
              </a:rPr>
              <a:t>的参数化</a:t>
            </a:r>
            <a:r>
              <a:rPr lang="en-US" sz="1200">
                <a:solidFill>
                  <a:srgbClr val="1F2429"/>
                </a:solidFill>
                <a:latin typeface="Microsoft YaHei"/>
                <a:ea typeface="Microsoft YaHei"/>
              </a:rPr>
              <a:t> Chisel </a:t>
            </a:r>
            <a:r>
              <a:rPr lang="zh-CN" sz="1200">
                <a:solidFill>
                  <a:srgbClr val="1F2429"/>
                </a:solidFill>
                <a:latin typeface="Microsoft YaHei"/>
                <a:ea typeface="Microsoft YaHei"/>
              </a:rPr>
              <a:t>源码，而非直接吐低级中间表示——最终经</a:t>
            </a:r>
            <a:r>
              <a:rPr lang="en-US" sz="1200">
                <a:solidFill>
                  <a:srgbClr val="1F2429"/>
                </a:solidFill>
                <a:latin typeface="Microsoft YaHei"/>
                <a:ea typeface="Microsoft YaHei"/>
              </a:rPr>
              <a:t> FIRRTL </a:t>
            </a:r>
            <a:r>
              <a:rPr lang="zh-CN" sz="1200">
                <a:solidFill>
                  <a:srgbClr val="1F2429"/>
                </a:solidFill>
                <a:latin typeface="Microsoft YaHei"/>
                <a:ea typeface="Microsoft YaHei"/>
              </a:rPr>
              <a:t>工具链落地</a:t>
            </a:r>
            <a:r>
              <a:rPr lang="en-US" sz="1200">
                <a:solidFill>
                  <a:srgbClr val="1F2429"/>
                </a:solidFill>
                <a:latin typeface="Microsoft YaHei"/>
                <a:ea typeface="Microsoft YaHei"/>
              </a:rPr>
              <a:t> Verilog</a:t>
            </a:r>
            <a:r>
              <a:rPr lang="zh-CN" sz="1200">
                <a:solidFill>
                  <a:srgbClr val="1F242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66750" y="2600325"/>
            <a:ext cx="6096000" cy="9525"/>
          </a:xfrm>
          <a:prstGeom prst="rect">
            <a:avLst/>
          </a:prstGeom>
          <a:solidFill>
            <a:srgbClr val="D9D9D2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66750" y="2819400"/>
            <a:ext cx="6096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2429"/>
                </a:solidFill>
                <a:latin typeface="Microsoft YaHei"/>
                <a:ea typeface="Microsoft YaHei"/>
              </a:rPr>
              <a:t>范围决策：只支持标准</a:t>
            </a:r>
            <a:r>
              <a:rPr lang="en-US" sz="1650" b="1">
                <a:solidFill>
                  <a:srgbClr val="1F2429"/>
                </a:solidFill>
                <a:latin typeface="Microsoft YaHei"/>
                <a:ea typeface="Microsoft YaHei"/>
              </a:rPr>
              <a:t> P4-16 + v1model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66750" y="3286125"/>
            <a:ext cx="6096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1F2429"/>
                </a:solidFill>
                <a:latin typeface="Microsoft YaHei"/>
                <a:ea typeface="Microsoft YaHei"/>
              </a:rPr>
              <a:t>不做</a:t>
            </a:r>
            <a:r>
              <a:rPr lang="en-US" sz="1200">
                <a:solidFill>
                  <a:srgbClr val="1F2429"/>
                </a:solidFill>
                <a:latin typeface="Microsoft YaHei"/>
                <a:ea typeface="Microsoft YaHei"/>
              </a:rPr>
              <a:t> TNA/PSA </a:t>
            </a:r>
            <a:r>
              <a:rPr lang="zh-CN" sz="1200">
                <a:solidFill>
                  <a:srgbClr val="1F2429"/>
                </a:solidFill>
                <a:latin typeface="Microsoft YaHei"/>
                <a:ea typeface="Microsoft YaHei"/>
              </a:rPr>
              <a:t>等厂商架构。子集先行、按里程碑收敛，是三天走完</a:t>
            </a:r>
            <a:r>
              <a:rPr lang="en-US" sz="1200">
                <a:solidFill>
                  <a:srgbClr val="1F2429"/>
                </a:solidFill>
                <a:latin typeface="Microsoft YaHei"/>
                <a:ea typeface="Microsoft YaHei"/>
              </a:rPr>
              <a:t> M1~M5 </a:t>
            </a:r>
            <a:r>
              <a:rPr lang="zh-CN" sz="1200">
                <a:solidFill>
                  <a:srgbClr val="1F2429"/>
                </a:solidFill>
                <a:latin typeface="Microsoft YaHei"/>
                <a:ea typeface="Microsoft YaHei"/>
              </a:rPr>
              <a:t>的前提——</a:t>
            </a:r>
            <a:r>
              <a:rPr lang="zh-CN" sz="1200" b="1">
                <a:solidFill>
                  <a:srgbClr val="1F2429"/>
                </a:solidFill>
                <a:latin typeface="Microsoft YaHei"/>
                <a:ea typeface="Microsoft YaHei"/>
              </a:rPr>
              <a:t>范围收敛换迭代速度</a:t>
            </a:r>
            <a:r>
              <a:rPr lang="zh-CN" sz="1200">
                <a:solidFill>
                  <a:srgbClr val="1F2429"/>
                </a:solidFill>
                <a:latin typeface="Microsoft YaHei"/>
                <a:ea typeface="Microsoft YaHei"/>
              </a:rPr>
              <a:t>，通用性留到能力验证之后。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666750" y="4124325"/>
            <a:ext cx="6096000" cy="9525"/>
          </a:xfrm>
          <a:prstGeom prst="rect">
            <a:avLst/>
          </a:prstGeom>
          <a:solidFill>
            <a:srgbClr val="D9D9D2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66750" y="4343400"/>
            <a:ext cx="6096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2429"/>
                </a:solidFill>
                <a:latin typeface="Microsoft YaHei"/>
                <a:ea typeface="Microsoft YaHei"/>
              </a:rPr>
              <a:t>方法论：照搬</a:t>
            </a:r>
            <a:r>
              <a:rPr lang="en-US" sz="1650" b="1">
                <a:solidFill>
                  <a:srgbClr val="1F2429"/>
                </a:solidFill>
                <a:latin typeface="Microsoft YaHei"/>
                <a:ea typeface="Microsoft YaHei"/>
              </a:rPr>
              <a:t> Google XLS </a:t>
            </a:r>
            <a:r>
              <a:rPr lang="zh-CN" sz="1650" b="1">
                <a:solidFill>
                  <a:srgbClr val="1F2429"/>
                </a:solidFill>
                <a:latin typeface="Microsoft YaHei"/>
                <a:ea typeface="Microsoft YaHei"/>
              </a:rPr>
              <a:t>的骨架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66750" y="4810125"/>
            <a:ext cx="6096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00">
                <a:solidFill>
                  <a:srgbClr val="6B7280"/>
                </a:solidFill>
                <a:latin typeface="Microsoft YaHei"/>
                <a:ea typeface="Microsoft YaHei"/>
              </a:rPr>
              <a:t>DSL → </a:t>
            </a: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核心数据流</a:t>
            </a:r>
            <a:r>
              <a:rPr lang="en-US" sz="1200">
                <a:solidFill>
                  <a:srgbClr val="6B7280"/>
                </a:solidFill>
                <a:latin typeface="Microsoft YaHei"/>
                <a:ea typeface="Microsoft YaHei"/>
              </a:rPr>
              <a:t> IR → </a:t>
            </a: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优化</a:t>
            </a:r>
            <a:r>
              <a:rPr lang="en-US" sz="1200">
                <a:solidFill>
                  <a:srgbClr val="6B7280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调度</a:t>
            </a:r>
            <a:r>
              <a:rPr lang="en-US" sz="1200">
                <a:solidFill>
                  <a:srgbClr val="6B7280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后端。</a:t>
            </a:r>
            <a:r>
              <a:rPr lang="en-US" sz="1200">
                <a:solidFill>
                  <a:srgbClr val="6B7280"/>
                </a:solidFill>
                <a:latin typeface="Microsoft YaHei"/>
                <a:ea typeface="Microsoft YaHei"/>
              </a:rPr>
              <a:t>IR </a:t>
            </a: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承载全部优化，后端只做翻译；调度（插拍）是本项目</a:t>
            </a:r>
            <a:r>
              <a:rPr lang="en-US" sz="1200">
                <a:solidFill>
                  <a:srgbClr val="6B7280"/>
                </a:solidFill>
                <a:latin typeface="Microsoft YaHei"/>
                <a:ea typeface="Microsoft YaHei"/>
              </a:rPr>
              <a:t> 9 </a:t>
            </a: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月新增的环节，由此获得时序收敛能力。</a:t>
            </a:r>
            <a:endParaRPr/>
          </a:p>
        </p:txBody>
      </p:sp>
      <p:pic>
        <p:nvPicPr>
          <p:cNvPr id="1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477125" y="2143125"/>
            <a:ext cx="3810000" cy="3143250"/>
          </a:xfrm>
          <a:prstGeom prst="rect">
            <a:avLst/>
          </a:prstGeom>
          <a:ln/>
        </p:spPr>
      </p:pic>
      <p:sp>
        <p:nvSpPr>
          <p:cNvPr id="115" name=""/>
          <p:cNvSpPr/>
          <p:nvPr/>
        </p:nvSpPr>
        <p:spPr>
          <a:xfrm rot="0" flipH="0" flipV="0">
            <a:off x="666750" y="6419850"/>
            <a:ext cx="95250" cy="9525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38200" y="6400800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B7280"/>
                </a:solidFill>
                <a:latin typeface="Microsoft YaHei"/>
                <a:ea typeface="Microsoft YaHei"/>
              </a:rPr>
              <a:t>P4C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1172825" y="6400800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04 / 14</a:t>
            </a:r>
            <a:endParaRPr/>
          </a:p>
        </p:txBody>
      </p:sp>
    </p:spTree>
  </p:cSld>
</p:sld>
</file>

<file path=ppt/slides/slide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18" name="" descr="&lt;Slide style={{ width: 1280, height: 720, background: '#FAFAF7', padding: '20px 70px 0', flexDirection: 'column' }}&gt;&#10;  &lt;Box style={{ height: 90, justifyContent: 'flex-end' }}&gt;&#10;    &lt;Text style={{ fontSize: 34, fontWeight: 'bold', color: '#1F2429' }}&gt;总体架构：五级编译流水&lt;/Text&gt;&#10;    &lt;Box style={{ width: 56, height: 3, background: '#185FA5', marginTop: 12 }} /&gt;&#10;  &lt;/Box&gt;&#10;  &lt;Box style={{ height: 520, marginTop: 20, flexDirection: 'row', gap: 44 }}&gt;&#10;    &lt;Box style={{ width: 660, alignItems: 'center', justifyContent: 'center' }}&gt;&#10;      &lt;svg width={640} height={480} viewBox='0 0 640 480'&gt;&#10;        &lt;rect x='40' y='20' width='220' height='60' fill='#FFFFFF' stroke='#1F2429' strokeWidth='2' /&gt;&#10;        &lt;text x='150' y='46' fontFamily='JetBrains Mono' fontSize='15' fill='#1F2429' text-anchor='middle'&gt;P4-16 FRONTEND&lt;/text&gt;&#10;        &lt;text x='150' y='66' fontSize='12' fill='#6B7280' text-anchor='middle'&gt;Lexer · Parser · Directive&lt;/text&gt;&#10;        &lt;line x1='150' y1='80' x2='150' y2='110' stroke='#1F2429' strokeWidth='2' /&gt;&#10;        &lt;rect x='40' y='110' width='220' height='60' fill='#185FA5' /&gt;&#10;        &lt;text x='150' y='136' fontFamily='JetBrains Mono' fontSize='15' fill='#FFFFFF' text-anchor='middle'&gt;ACTIONDAG IR&lt;/text&gt;&#10;        &lt;text x='150' y='156' fontSize='12' fill='#D9D9D2' text-anchor='middle'&gt;核心资产 · 全部优化在此&lt;/text&gt;&#10;        &lt;line x1='150' y1='170' x2='150' y2='200' stroke='#1F2429' strokeWidth='2' /&gt;&#10;        &lt;rect x='40' y='200' width='220' height='60' fill='#FFFFFF' stroke='#1F2429' strokeWidth='2' /&gt;&#10;        &lt;text x='150' y='226' fontFamily='JetBrains Mono' fontSize='15' fill='#1F2429' text-anchor='middle'&gt;OPT + SCHEDULER&lt;/text&gt;&#10;        &lt;text x='150' y='246' fontSize='12' fill='#6B7280' text-anchor='middle'&gt;constFold · CSE · DCE · 切拍&lt;/text&gt;&#10;        &lt;line x1='150' y1='260' x2='150' y2='290' stroke='#1F2429' strokeWidth='2' /&gt;&#10;        &lt;rect x='40' y='290' width='220' height='60' fill='#FFFFFF' stroke='#1F2429' strokeWidth='2' /&gt;&#10;        &lt;text x='150' y='316' fontFamily='JetBrains Mono' fontSize='15' fill='#1F2429' text-anchor='middle'&gt;CHISEL BACKEND&lt;/text&gt;&#10;        &lt;text x='150' y='336' fontSize='12' fill='#6B7280' text-anchor='middle'&gt;Emitter / StagedEmitter&lt;/text&gt;&#10;        &lt;line x1='150' y1='350' x2='150' y2='380' stroke='#1F2429' strokeWidth='2' /&gt;&#10;        &lt;rect x='40' y='380' width='220' height='60' fill='none' stroke='#D9D9D2' strokeWidth='2' strokeDasharray='6 4' /&gt;&#10;        &lt;text x='150' y='406' fontFamily='JetBrains Mono' fontSize='15' fill='#6B7280' text-anchor='middle'&gt;FIRRTL → VERILOG&lt;/text&gt;&#10;        &lt;text x='150' y='426' fontSize='12' fill='#6B7280' text-anchor='middle'&gt;既有工具链&lt;/text&gt;&#10;        &lt;line x1='300' y1='140' x2='470' y2='140' stroke='#185FA5' strokeWidth='2' /&gt;&#10;        &lt;text x='480' y='132' fontFamily='JetBrains Mono' fontSize='13' fill='#185FA5'&gt;sbt sourceGenerators&lt;/text&gt;&#10;        &lt;text x='480' y='156' fontSize='12' fill='#6B7280'&gt;.p4 保存即重新生成&lt;/text&gt;&#10;        &lt;text x='480' y='200' fontSize='13' fill='#6B7280'&gt;生成包名 p4cgen&lt;/text&gt;&#10;        &lt;text x='480' y='226' fontSize='13' fill='#6B7280'&gt;模块自带前缀化 Bundle&lt;/text&gt;&#10;        &lt;text x='480' y='252' fontSize='13' fill='#6B7280'&gt;编译器本体零 Chisel 依赖&lt;/text&gt;&#10;      &lt;/svg&gt;&#10;    &lt;/Box&gt;&#10;    &lt;Box style={{ flex: 1, flexDirection: 'column', justifyContent: 'center', gap: 26 }}&gt;&#10;      &lt;Box&gt;&#10;        &lt;Text style={{ fontSize: 20, fontWeight: 'bold', color: '#185FA5' }}&gt;IR 承载全部优化&lt;/Text&gt;&#10;        &lt;Text style={{ fontSize: 15, color: '#1F2429', lineHeight: 1.6, marginTop: 6 }}&gt;常量折叠、CSE、死代码消除都作用在同一张 DAG 上，后端只是翻译。&lt;/Text&gt;&#10;      &lt;/Box&gt;&#10;      &lt;Box&gt;&#10;        &lt;Text style={{ fontSize: 20, fontWeight: 'bold', color: '#185FA5' }}&gt;调度是新增环节&lt;/Text&gt;&#10;        &lt;Text style={{ fontSize: 15, color: '#1F2429', lineHeight: 1.6, marginTop: 6 }}&gt;Scheduler 在优化之后切分拍级——这是时序收敛能力的入口。&lt;/Text&gt;&#10;      &lt;/Box&gt;&#10;      &lt;Box&gt;&#10;        &lt;Text style={{ fontSize: 20, fontWeight: 'bold', color: '#185FA5' }}&gt;与 sbt 深度集成&lt;/Text&gt;&#10;        &lt;Text style={{ fontSize: 15, color: '#1F2429', lineHeight: 1.6, marginTop: 6 }}&gt;sourceGenerators 驱动，demo .p4 改动自动重生成，测试即时可见。&lt;/Text&gt;&#10;      &lt;/Box&gt;&#10;    &lt;/Box&gt;&#10;  &lt;/Box&gt;&#10;  &lt;Box style={{ height: 30, marginTop: 14, flexDirection: 'row', alignItems: 'center', justifyContent: 'space-between' }}&gt;&#10;    &lt;Box style={{ flexDirection: 'row', alignItems: 'center', gap: 8 }}&gt;&#10;      &lt;Box style={{ width: 10, height: 10, background: '#185FA5' }} /&gt;&#10;      &lt;Text style={{ fontSize: 11, color: '#6B7280' }}&gt;P4C&lt;/Text&gt;&#10;    &lt;/Box&gt;&#10;    &lt;Text style={{ fontSize: 12, color: '#6B7280' }}&gt;05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66750" y="5143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429"/>
                </a:solidFill>
                <a:latin typeface="Microsoft YaHei"/>
                <a:ea typeface="Microsoft YaHei"/>
              </a:rPr>
              <a:t>总体架构：五级编译流水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666750" y="1019175"/>
            <a:ext cx="533400" cy="28575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p/>
        </p:txBody>
      </p:sp>
      <p:pic>
        <p:nvPicPr>
          <p:cNvPr id="1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000" y="1428750"/>
            <a:ext cx="6096000" cy="4572000"/>
          </a:xfrm>
          <a:prstGeom prst="rect">
            <a:avLst/>
          </a:prstGeom>
          <a:ln/>
        </p:spPr>
      </p:pic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7372350" y="2352675"/>
            <a:ext cx="4152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85FA5"/>
                </a:solidFill>
                <a:latin typeface="Microsoft YaHei"/>
                <a:ea typeface="Microsoft YaHei"/>
              </a:rPr>
              <a:t>IR </a:t>
            </a:r>
            <a:r>
              <a:rPr lang="zh-CN" sz="1500" b="1">
                <a:solidFill>
                  <a:srgbClr val="185FA5"/>
                </a:solidFill>
                <a:latin typeface="Microsoft YaHei"/>
                <a:ea typeface="Microsoft YaHei"/>
              </a:rPr>
              <a:t>承载全部优化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7372350" y="2638425"/>
            <a:ext cx="4152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1F2429"/>
                </a:solidFill>
                <a:latin typeface="Microsoft YaHei"/>
                <a:ea typeface="Microsoft YaHei"/>
              </a:rPr>
              <a:t>常量折叠、</a:t>
            </a:r>
            <a:r>
              <a:rPr lang="en-US" sz="1125">
                <a:solidFill>
                  <a:srgbClr val="1F2429"/>
                </a:solidFill>
                <a:latin typeface="Microsoft YaHei"/>
                <a:ea typeface="Microsoft YaHei"/>
              </a:rPr>
              <a:t>CSE</a:t>
            </a:r>
            <a:r>
              <a:rPr lang="zh-CN" sz="1125">
                <a:solidFill>
                  <a:srgbClr val="1F2429"/>
                </a:solidFill>
                <a:latin typeface="Microsoft YaHei"/>
                <a:ea typeface="Microsoft YaHei"/>
              </a:rPr>
              <a:t>、死代码消除都作用在同一张</a:t>
            </a:r>
            <a:r>
              <a:rPr lang="en-US" sz="1125">
                <a:solidFill>
                  <a:srgbClr val="1F2429"/>
                </a:solidFill>
                <a:latin typeface="Microsoft YaHei"/>
                <a:ea typeface="Microsoft YaHei"/>
              </a:rPr>
              <a:t> DAG </a:t>
            </a:r>
            <a:r>
              <a:rPr lang="zh-CN" sz="1125">
                <a:solidFill>
                  <a:srgbClr val="1F2429"/>
                </a:solidFill>
                <a:latin typeface="Microsoft YaHei"/>
                <a:ea typeface="Microsoft YaHei"/>
              </a:rPr>
              <a:t>上，后端只是翻译。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7372350" y="3438525"/>
            <a:ext cx="4152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85FA5"/>
                </a:solidFill>
                <a:latin typeface="Microsoft YaHei"/>
                <a:ea typeface="Microsoft YaHei"/>
              </a:rPr>
              <a:t>调度是新增环节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372350" y="3724275"/>
            <a:ext cx="4152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1F2429"/>
                </a:solidFill>
                <a:latin typeface="Microsoft YaHei"/>
                <a:ea typeface="Microsoft YaHei"/>
              </a:rPr>
              <a:t>Scheduler </a:t>
            </a:r>
            <a:r>
              <a:rPr lang="zh-CN" sz="1125">
                <a:solidFill>
                  <a:srgbClr val="1F2429"/>
                </a:solidFill>
                <a:latin typeface="Microsoft YaHei"/>
                <a:ea typeface="Microsoft YaHei"/>
              </a:rPr>
              <a:t>在优化之后切分拍级——这是时序收敛能力的入口。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372350" y="4248150"/>
            <a:ext cx="4152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85FA5"/>
                </a:solidFill>
                <a:latin typeface="Microsoft YaHei"/>
                <a:ea typeface="Microsoft YaHei"/>
              </a:rPr>
              <a:t>与</a:t>
            </a:r>
            <a:r>
              <a:rPr lang="en-US" sz="1500" b="1">
                <a:solidFill>
                  <a:srgbClr val="185FA5"/>
                </a:solidFill>
                <a:latin typeface="Microsoft YaHei"/>
                <a:ea typeface="Microsoft YaHei"/>
              </a:rPr>
              <a:t> sbt </a:t>
            </a:r>
            <a:r>
              <a:rPr lang="zh-CN" sz="1500" b="1">
                <a:solidFill>
                  <a:srgbClr val="185FA5"/>
                </a:solidFill>
                <a:latin typeface="Microsoft YaHei"/>
                <a:ea typeface="Microsoft YaHei"/>
              </a:rPr>
              <a:t>深度集成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372350" y="4533900"/>
            <a:ext cx="4152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1F2429"/>
                </a:solidFill>
                <a:latin typeface="Microsoft YaHei"/>
                <a:ea typeface="Microsoft YaHei"/>
              </a:rPr>
              <a:t>sourceGenerators </a:t>
            </a:r>
            <a:r>
              <a:rPr lang="zh-CN" sz="1125">
                <a:solidFill>
                  <a:srgbClr val="1F2429"/>
                </a:solidFill>
                <a:latin typeface="Microsoft YaHei"/>
                <a:ea typeface="Microsoft YaHei"/>
              </a:rPr>
              <a:t>驱动，</a:t>
            </a:r>
            <a:r>
              <a:rPr lang="en-US" sz="1125">
                <a:solidFill>
                  <a:srgbClr val="1F2429"/>
                </a:solidFill>
                <a:latin typeface="Microsoft YaHei"/>
                <a:ea typeface="Microsoft YaHei"/>
              </a:rPr>
              <a:t>demo .p4 </a:t>
            </a:r>
            <a:r>
              <a:rPr lang="zh-CN" sz="1125">
                <a:solidFill>
                  <a:srgbClr val="1F2429"/>
                </a:solidFill>
                <a:latin typeface="Microsoft YaHei"/>
                <a:ea typeface="Microsoft YaHei"/>
              </a:rPr>
              <a:t>改动自动重生成，测试即时可见。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666750" y="6419850"/>
            <a:ext cx="95250" cy="9525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38200" y="6400800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B7280"/>
                </a:solidFill>
                <a:latin typeface="Microsoft YaHei"/>
                <a:ea typeface="Microsoft YaHei"/>
              </a:rPr>
              <a:t>P4C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1172825" y="6400800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05 / 14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32" name="" descr="&lt;Slide style={{ width: 1280, height: 720, background: '#FAFAF7', padding: '20px 70px 0', flexDirection: 'column' }}&gt;&#10;  &lt;Box style={{ height: 90, justifyContent: 'flex-end' }}&gt;&#10;    &lt;Text style={{ fontSize: 34, fontWeight: 'bold', color: '#1F2429' }}&gt;里程碑：M1 → M5 一次讲完&lt;/Text&gt;&#10;    &lt;Box style={{ width: 56, height: 3, background: '#185FA5', marginTop: 12 }} /&gt;&#10;  &lt;/Box&gt;&#10;  &lt;Box style={{ height: 400, marginTop: 20, alignItems: 'center', justifyContent: 'center' }}&gt;&#10;    &lt;svg width={1100} height={360} viewBox='0 0 1100 360'&gt;&#10;      &lt;line x1='40' y1='160' x2='1060' y2='160' stroke='#1F2429' strokeWidth='2' /&gt;&#10;      &lt;circle cx='100' cy='160' r='10' fill='#185FA5' /&gt;&#10;      &lt;text x='100' y='120' fontFamily='JetBrains Mono' fontSize='15' fill='#1F2429' text-anchor='middle'&gt;M1&lt;/text&gt;&#10;      &lt;text x='100' y='200' fontSize='13' fill='#1F2429' text-anchor='middle'&gt;组合 Action&lt;/text&gt;&#10;      &lt;text x='100' y='222' fontSize='12' fill='#6B7280' text-anchor='middle'&gt;位操作/算术 → DAG&lt;/text&gt;&#10;      &lt;circle cx='330' cy='160' r='10' fill='#185FA5' /&gt;&#10;      &lt;text x='330' y='120' fontFamily='JetBrains Mono' fontSize='15' fill='#1F2429' text-anchor='middle'&gt;M2&lt;/text&gt;&#10;      &lt;text x='330' y='200' fontSize='13' fill='#1F2429' text-anchor='middle'&gt;Exact 表融合&lt;/text&gt;&#10;      &lt;text x='330' y='222' fontSize='12' fill='#6B7280' text-anchor='middle'&gt;MuxCase 烘焙&lt;/text&gt;&#10;      &lt;circle cx='560' cy='160' r='10' fill='#185FA5' /&gt;&#10;      &lt;text x='560' y='120' fontFamily='JetBrains Mono' fontSize='15' fill='#1F2429' text-anchor='middle'&gt;M3&lt;/text&gt;&#10;      &lt;text x='560' y='200' fontSize='13' fill='#1F2429' text-anchor='middle'&gt;Parser FSM&lt;/text&gt;&#10;      &lt;text x='560' y='222' fontSize='12' fill='#6B7280' text-anchor='middle'&gt;512-bit 窗口·网络序&lt;/text&gt;&#10;      &lt;circle cx='790' cy='160' r='10' fill='#185FA5' /&gt;&#10;      &lt;text x='790' y='120' fontFamily='JetBrains Mono' fontSize='15' fill='#1F2429' text-anchor='middle'&gt;M4&lt;/text&gt;&#10;      &lt;text x='790' y='200' fontSize='13' fill='#1F2429' text-anchor='middle'&gt;Register/Counter&lt;/text&gt;&#10;      &lt;text x='790' y='222' fontSize='12' fill='#6B7280' text-anchor='middle'&gt;状态单元 + ex_* 观测&lt;/text&gt;&#10;      &lt;circle cx='1000' cy='160' r='10' fill='#185FA5' /&gt;&#10;      &lt;text x='1000' y='120' fontFamily='JetBrains Mono' fontSize='15' fill='#1F2429' text-anchor='middle'&gt;M5&lt;/text&gt;&#10;      &lt;text x='1000' y='200' fontSize='13' fill='#1F2429' text-anchor='middle'&gt;管线 Top&lt;/text&gt;&#10;      &lt;text x='1000' y='222' fontSize='12' fill='#6B7280' text-anchor='middle'&gt;fire 锁存·outValid&lt;/text&gt;&#10;      &lt;rect x='380' y='290' width='340' height='44' fill='none' stroke='#185FA5' strokeWidth='2' /&gt;&#10;      &lt;text x='550' y='318' fontSize='14' fill='#185FA5' text-anchor='middle'&gt;+ 切拍（加权调度/编译指示）· 运行时表项&lt;/text&gt;&#10;      &lt;text x='40' y='60' fontFamily='JetBrains Mono' fontSize='14' fill='#6B7280'&gt;2026-09-04 → 09-05&lt;/text&gt;&#10;    &lt;/svg&gt;&#10;  &lt;/Box&gt;&#10;  &lt;Box style={{ height: 80, marginTop: 10, flexDirection: 'row', alignItems: 'center', gap: 24 }}&gt;&#10;    &lt;Box style={{ width: 4, height: 64, background: '#185FA5' }} /&gt;&#10;    &lt;Text style={{ fontSize: 17, color: '#1F2429', lineHeight: 1.7, flex: 1 }}&gt;每个里程碑都有独立 demo 与 chiseltest 端到端验收，编译器测试从 22 条增长到 76 条——&lt;span style={{ fontWeight: 'bold' }}&gt;节奏可控的子集路线被证明可行&lt;/span&gt;，后续能力都在同一套 IR 与门禁之上叠加。&lt;/Text&gt;&#10;  &lt;/Box&gt;&#10;  &lt;Box style={{ height: 30, marginTop: 14, flexDirection: 'row', alignItems: 'center', justifyContent: 'space-between' }}&gt;&#10;    &lt;Box style={{ flexDirection: 'row', alignItems: 'center', gap: 8 }}&gt;&#10;      &lt;Box style={{ width: 10, height: 10, background: '#185FA5' }} /&gt;&#10;      &lt;Text style={{ fontSize: 11, color: '#6B7280' }}&gt;P4C&lt;/Text&gt;&#10;    &lt;/Box&gt;&#10;    &lt;Text style={{ fontSize: 12, color: '#6B7280' }}&gt;06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66750" y="5143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429"/>
                </a:solidFill>
                <a:latin typeface="Microsoft YaHei"/>
                <a:ea typeface="Microsoft YaHei"/>
              </a:rPr>
              <a:t>里程碑：</a:t>
            </a:r>
            <a:r>
              <a:rPr lang="en-US" sz="2550" b="1">
                <a:solidFill>
                  <a:srgbClr val="1F2429"/>
                </a:solidFill>
                <a:latin typeface="Microsoft YaHei"/>
                <a:ea typeface="Microsoft YaHei"/>
              </a:rPr>
              <a:t>M1 → M5 </a:t>
            </a:r>
            <a:r>
              <a:rPr lang="zh-CN" sz="2550" b="1">
                <a:solidFill>
                  <a:srgbClr val="1F2429"/>
                </a:solidFill>
                <a:latin typeface="Microsoft YaHei"/>
                <a:ea typeface="Microsoft YaHei"/>
              </a:rPr>
              <a:t>一次讲完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666750" y="1019175"/>
            <a:ext cx="533400" cy="28575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p/>
        </p:txBody>
      </p:sp>
      <p:pic>
        <p:nvPicPr>
          <p:cNvPr id="1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428750"/>
            <a:ext cx="10477500" cy="3429000"/>
          </a:xfrm>
          <a:prstGeom prst="rect">
            <a:avLst/>
          </a:prstGeom>
          <a:ln/>
        </p:spPr>
      </p:pic>
      <p:sp>
        <p:nvSpPr>
          <p:cNvPr id="137" name=""/>
          <p:cNvSpPr/>
          <p:nvPr/>
        </p:nvSpPr>
        <p:spPr>
          <a:xfrm rot="0" flipH="0" flipV="0">
            <a:off x="666750" y="5219700"/>
            <a:ext cx="38100" cy="60960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933450" y="5191125"/>
            <a:ext cx="105918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1F2429"/>
                </a:solidFill>
                <a:latin typeface="Microsoft YaHei"/>
                <a:ea typeface="Microsoft YaHei"/>
              </a:rPr>
              <a:t>每个里程碑都有独立</a:t>
            </a:r>
            <a:r>
              <a:rPr lang="en-US" sz="1275">
                <a:solidFill>
                  <a:srgbClr val="1F2429"/>
                </a:solidFill>
                <a:latin typeface="Microsoft YaHei"/>
                <a:ea typeface="Microsoft YaHei"/>
              </a:rPr>
              <a:t> demo </a:t>
            </a:r>
            <a:r>
              <a:rPr lang="zh-CN" sz="1275">
                <a:solidFill>
                  <a:srgbClr val="1F2429"/>
                </a:solidFill>
                <a:latin typeface="Microsoft YaHei"/>
                <a:ea typeface="Microsoft YaHei"/>
              </a:rPr>
              <a:t>与</a:t>
            </a:r>
            <a:r>
              <a:rPr lang="en-US" sz="1275">
                <a:solidFill>
                  <a:srgbClr val="1F2429"/>
                </a:solidFill>
                <a:latin typeface="Microsoft YaHei"/>
                <a:ea typeface="Microsoft YaHei"/>
              </a:rPr>
              <a:t> chiseltest </a:t>
            </a:r>
            <a:r>
              <a:rPr lang="zh-CN" sz="1275">
                <a:solidFill>
                  <a:srgbClr val="1F2429"/>
                </a:solidFill>
                <a:latin typeface="Microsoft YaHei"/>
                <a:ea typeface="Microsoft YaHei"/>
              </a:rPr>
              <a:t>端到端验收，编译器测试从</a:t>
            </a:r>
            <a:r>
              <a:rPr lang="en-US" sz="1275">
                <a:solidFill>
                  <a:srgbClr val="1F2429"/>
                </a:solidFill>
                <a:latin typeface="Microsoft YaHei"/>
                <a:ea typeface="Microsoft YaHei"/>
              </a:rPr>
              <a:t> 22 </a:t>
            </a:r>
            <a:r>
              <a:rPr lang="zh-CN" sz="1275">
                <a:solidFill>
                  <a:srgbClr val="1F2429"/>
                </a:solidFill>
                <a:latin typeface="Microsoft YaHei"/>
                <a:ea typeface="Microsoft YaHei"/>
              </a:rPr>
              <a:t>条增长到</a:t>
            </a:r>
            <a:r>
              <a:rPr lang="en-US" sz="1275">
                <a:solidFill>
                  <a:srgbClr val="1F2429"/>
                </a:solidFill>
                <a:latin typeface="Microsoft YaHei"/>
                <a:ea typeface="Microsoft YaHei"/>
              </a:rPr>
              <a:t> 76 </a:t>
            </a:r>
            <a:r>
              <a:rPr lang="zh-CN" sz="1275">
                <a:solidFill>
                  <a:srgbClr val="1F2429"/>
                </a:solidFill>
                <a:latin typeface="Microsoft YaHei"/>
                <a:ea typeface="Microsoft YaHei"/>
              </a:rPr>
              <a:t>条——</a:t>
            </a:r>
            <a:r>
              <a:rPr lang="zh-CN" sz="1275" b="1">
                <a:solidFill>
                  <a:srgbClr val="1F2429"/>
                </a:solidFill>
                <a:latin typeface="Microsoft YaHei"/>
                <a:ea typeface="Microsoft YaHei"/>
              </a:rPr>
              <a:t>节奏可控的子集路线被证明可行</a:t>
            </a:r>
            <a:r>
              <a:rPr lang="zh-CN" sz="1275">
                <a:solidFill>
                  <a:srgbClr val="1F2429"/>
                </a:solidFill>
                <a:latin typeface="Microsoft YaHei"/>
                <a:ea typeface="Microsoft YaHei"/>
              </a:rPr>
              <a:t>，后续能力都在同一套</a:t>
            </a:r>
            <a:r>
              <a:rPr lang="en-US" sz="1275">
                <a:solidFill>
                  <a:srgbClr val="1F2429"/>
                </a:solidFill>
                <a:latin typeface="Microsoft YaHei"/>
                <a:ea typeface="Microsoft YaHei"/>
              </a:rPr>
              <a:t> IR </a:t>
            </a:r>
            <a:r>
              <a:rPr lang="zh-CN" sz="1275">
                <a:solidFill>
                  <a:srgbClr val="1F2429"/>
                </a:solidFill>
                <a:latin typeface="Microsoft YaHei"/>
                <a:ea typeface="Microsoft YaHei"/>
              </a:rPr>
              <a:t>与门禁之上叠加。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666750" y="6134100"/>
            <a:ext cx="95250" cy="9525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38200" y="6115050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B7280"/>
                </a:solidFill>
                <a:latin typeface="Microsoft YaHei"/>
                <a:ea typeface="Microsoft YaHei"/>
              </a:rPr>
              <a:t>P4C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1172825" y="6115050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06 / 14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42" name="" descr="&lt;Slide style={{ width: 1280, height: 720, background: '#FAFAF7', position: 'relative' }}&gt;&#10;  &lt;Text style={{ position: 'absolute', top: 150, left: 70, fontSize: 150, fontWeight: 'bold', color: '#B5D4F4', lineHeight: 1 }}&gt;02&lt;/Text&gt;&#10;  &lt;Box style={{ position: 'absolute', top: 380, left: 74 }}&gt;&#10;    &lt;Box style={{ width: 56, height: 3, background: '#185FA5' }} /&gt;&#10;    &lt;Text style={{ fontSize: 44, fontWeight: 'bold', color: '#1F2429', marginTop: 24 }}&gt;关键机制&lt;/Text&gt;&#10;    &lt;Text style={{ fontSize: 16, color: '#6B7280', marginTop: 18, lineHeight: 1.6 }}&gt;核心 IR、路径切拍、运行时表项——三个最有含金量的设计&lt;/Text&gt;&#10;  &lt;/Box&gt;&#10;  &lt;Text style={{ position: 'absolute', top: 620, left: 70, fontSize: 12, color: '#6B7280' }}&gt;KEY MECHANISMS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66750" y="1428750"/>
            <a:ext cx="1590675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B5D4F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704850" y="3619500"/>
            <a:ext cx="533400" cy="28575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04850" y="3876675"/>
            <a:ext cx="40100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1F2429"/>
                </a:solidFill>
                <a:latin typeface="Microsoft YaHei"/>
                <a:ea typeface="Microsoft YaHei"/>
              </a:rPr>
              <a:t>关键机制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704850" y="4552950"/>
            <a:ext cx="40100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核心</a:t>
            </a:r>
            <a:r>
              <a:rPr lang="en-US" sz="1200">
                <a:solidFill>
                  <a:srgbClr val="6B7280"/>
                </a:solidFill>
                <a:latin typeface="Microsoft YaHei"/>
                <a:ea typeface="Microsoft YaHei"/>
              </a:rPr>
              <a:t> IR</a:t>
            </a: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、路径切拍、运行时表项——三个最有含金量的设计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66750" y="5905500"/>
            <a:ext cx="1038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KEY MECHANISMS</a:t>
            </a:r>
            <a:endParaRPr/>
          </a:p>
        </p:txBody>
      </p:sp>
    </p:spTree>
  </p:cSld>
</p:sld>
</file>

<file path=ppt/slides/slide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49" name="" descr="&lt;Slide style={{ width: 1280, height: 720, background: '#FAFAF7', padding: '20px 70px 0', flexDirection: 'column' }}&gt;&#10;  &lt;Box style={{ height: 90, justifyContent: 'flex-end' }}&gt;&#10;    &lt;Text style={{ fontSize: 34, fontWeight: 'bold', color: '#1F2429' }}&gt;核心 IR：ActionDAG&lt;/Text&gt;&#10;    &lt;Box style={{ width: 56, height: 3, background: '#185FA5', marginTop: 12 }} /&gt;&#10;  &lt;/Box&gt;&#10;  &lt;Box style={{ height: 520, marginTop: 20, flexDirection: 'row', gap: 50 }}&gt;&#10;    &lt;Box style={{ width: 640, flexDirection: 'column', gap: 20, paddingTop: 6 }}&gt;&#10;      &lt;Text style={{ fontSize: 22, fontWeight: 'bold', color: '#1F2429' }}&gt;节点式位向量数据流图&lt;/Text&gt;&#10;      &lt;Text style={{ fontSize: 16, color: '#1F2429', lineHeight: 1.7 }}&gt;Const / Bin / Slice / Cat / Mux / RegRead 等节点各带推断位宽；宽度不匹配&lt;strong&gt;显式插入 Zext/Trunc 并报错拒绝静默截断&lt;/strong&gt;——这条红线来自 ParserCore 的历史教训。&lt;/Text&gt;&#10;      &lt;Box style={{ height: 1, background: '#D9D9D2' }} /&gt;&#10;      &lt;Text style={{ fontSize: 22, fontWeight: 'bold', color: '#1F2429' }}&gt;Sink 承载副作用&lt;/Text&gt;&#10;      &lt;Text style={{ fontSize: 16, color: '#1F2429', lineHeight: 1.7 }}&gt;OutputWrite / RegWrite / CounterAdd 三类 Sink 统一表达「写字段、写状态寄存器、加计数器」；切拍调度把所有 Sink 固定在末级，读写冲突在结构上不可能发生。&lt;/Text&gt;&#10;      &lt;Box style={{ height: 1, background: '#D9D9D2' }} /&gt;&#10;      &lt;Text style={{ fontSize: 22, fontWeight: 'bold', color: '#1F2429' }}&gt;Pass 链与顺序约束&lt;/Text&gt;&#10;      &lt;Text style={{ fontSize: 16, color: '#6B7280', lineHeight: 1.7 }}&gt;常量折叠 → CSE → DCE 在调度前完成；调度标注（stages）附着在 Dag 上而非节点内，三个优化 pass 零改动平滑共存。&lt;/Text&gt;&#10;    &lt;/Box&gt;&#10;    &lt;Box style={{ flex: 1, alignItems: 'center', justifyContent: 'center' }}&gt;&#10;      &lt;svg width={430} height={400} viewBox='0 0 430 400'&gt;&#10;        &lt;rect x='20' y='30' width='120' height='44' fill='#FFFFFF' stroke='#1F2429' strokeWidth='2' /&gt;&#10;        &lt;text x='80' y='58' fontFamily='JetBrains Mono' fontSize='13' fill='#1F2429' text-anchor='middle'&gt;InputRef&lt;/text&gt;&#10;        &lt;rect x='170' y='30' width='100' height='44' fill='#FFFFFF' stroke='#1F2429' strokeWidth='2' /&gt;&#10;        &lt;text x='220' y='58' fontFamily='JetBrains Mono' fontSize='13' fill='#1F2429' text-anchor='middle'&gt;Const&lt;/text&gt;&#10;        &lt;rect x='300' y='30' width='110' height='44' fill='#FFFFFF' stroke='#1F2429' strokeWidth='2' /&gt;&#10;        &lt;text x='355' y='58' fontFamily='JetBrains Mono' fontSize='13' fill='#1F2429' text-anchor='middle'&gt;RegRead&lt;/text&gt;&#10;        &lt;line x1='80' y1='74' x2='190' y2='150' stroke='#1F2429' strokeWidth='2' /&gt;&#10;        &lt;line x1='220' y1='74' x2='210' y2='150' stroke='#1F2429' strokeWidth='2' /&gt;&#10;        &lt;line x1='355' y1='74' x2='230' y2='150' stroke='#185FA5' strokeWidth='2' /&gt;&#10;        &lt;rect x='130' y='150' width='170' height='48' fill='#185FA5' /&gt;&#10;        &lt;text x='215' y='180' fontFamily='JetBrains Mono' fontSize='14' fill='#FFFFFF' text-anchor='middle'&gt;Bin / Mux / Slice&lt;/text&gt;&#10;        &lt;line x1='215' y1='198' x2='215' y2='240' stroke='#1F2429' strokeWidth='2' /&gt;&#10;        &lt;rect x='110' y='240' width='210' height='44' fill='none' stroke='#1F2429' strokeWidth='2' /&gt;&#10;        &lt;text x='215' y='268' fontFamily='JetBrains Mono' fontSize='13' fill='#1F2429' text-anchor='middle'&gt;OPT: fold·CSE·DCE&lt;/text&gt;&#10;        &lt;line x1='215' y1='284' x2='215' y2='320' stroke='#185FA5' strokeWidth='2' /&gt;&#10;        &lt;rect x='110' y='320' width='210' height='44' fill='none' stroke='#185FA5' strokeWidth='2' /&gt;&#10;        &lt;text x='215' y='348' fontFamily='JetBrains Mono' fontSize='13' fill='#185FA5' text-anchor='middle'&gt;SINK (末级固定)&lt;/text&gt;&#10;      &lt;/svg&gt;&#10;    &lt;/Box&gt;&#10;  &lt;/Box&gt;&#10;  &lt;Box style={{ height: 30, marginTop: 14, flexDirection: 'row', alignItems: 'center', justifyContent: 'space-between' }}&gt;&#10;    &lt;Box style={{ flexDirection: 'row', alignItems: 'center', gap: 8 }}&gt;&#10;      &lt;Box style={{ width: 10, height: 10, background: '#185FA5' }} /&gt;&#10;      &lt;Text style={{ fontSize: 11, color: '#6B7280' }}&gt;P4C&lt;/Text&gt;&#10;    &lt;/Box&gt;&#10;    &lt;Text style={{ fontSize: 12, color: '#6B7280' }}&gt;08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66750" y="5143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429"/>
                </a:solidFill>
                <a:latin typeface="Microsoft YaHei"/>
                <a:ea typeface="Microsoft YaHei"/>
              </a:rPr>
              <a:t>核心</a:t>
            </a:r>
            <a:r>
              <a:rPr lang="en-US" sz="2550" b="1">
                <a:solidFill>
                  <a:srgbClr val="1F2429"/>
                </a:solidFill>
                <a:latin typeface="Microsoft YaHei"/>
                <a:ea typeface="Microsoft YaHei"/>
              </a:rPr>
              <a:t> IR</a:t>
            </a:r>
            <a:r>
              <a:rPr lang="zh-CN" sz="2550" b="1">
                <a:solidFill>
                  <a:srgbClr val="1F2429"/>
                </a:solidFill>
                <a:latin typeface="Microsoft YaHei"/>
                <a:ea typeface="Microsoft YaHei"/>
              </a:rPr>
              <a:t>：</a:t>
            </a:r>
            <a:r>
              <a:rPr lang="en-US" sz="2550" b="1">
                <a:solidFill>
                  <a:srgbClr val="1F2429"/>
                </a:solidFill>
                <a:latin typeface="Microsoft YaHei"/>
                <a:ea typeface="Microsoft YaHei"/>
              </a:rPr>
              <a:t>ActionDAG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666750" y="1019175"/>
            <a:ext cx="533400" cy="28575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66750" y="1295400"/>
            <a:ext cx="6096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2429"/>
                </a:solidFill>
                <a:latin typeface="Microsoft YaHei"/>
                <a:ea typeface="Microsoft YaHei"/>
              </a:rPr>
              <a:t>节点式位向量数据流图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66750" y="1743075"/>
            <a:ext cx="6096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00">
                <a:solidFill>
                  <a:srgbClr val="1F2429"/>
                </a:solidFill>
                <a:latin typeface="Microsoft YaHei"/>
                <a:ea typeface="Microsoft YaHei"/>
              </a:rPr>
              <a:t>Const / Bin / Slice / Cat / Mux / RegRead </a:t>
            </a:r>
            <a:r>
              <a:rPr lang="zh-CN" sz="1200">
                <a:solidFill>
                  <a:srgbClr val="1F2429"/>
                </a:solidFill>
                <a:latin typeface="Microsoft YaHei"/>
                <a:ea typeface="Microsoft YaHei"/>
              </a:rPr>
              <a:t>等节点各带推断位宽；宽度不匹配</a:t>
            </a:r>
            <a:r>
              <a:rPr lang="zh-CN" sz="1200" b="1">
                <a:solidFill>
                  <a:srgbClr val="1F2429"/>
                </a:solidFill>
                <a:latin typeface="Microsoft YaHei"/>
                <a:ea typeface="Microsoft YaHei"/>
              </a:rPr>
              <a:t>显式插入</a:t>
            </a:r>
            <a:r>
              <a:rPr lang="en-US" sz="1200" b="1">
                <a:solidFill>
                  <a:srgbClr val="1F2429"/>
                </a:solidFill>
                <a:latin typeface="Microsoft YaHei"/>
                <a:ea typeface="Microsoft YaHei"/>
              </a:rPr>
              <a:t> Zext/Trunc </a:t>
            </a:r>
            <a:r>
              <a:rPr lang="zh-CN" sz="1200" b="1">
                <a:solidFill>
                  <a:srgbClr val="1F2429"/>
                </a:solidFill>
                <a:latin typeface="Microsoft YaHei"/>
                <a:ea typeface="Microsoft YaHei"/>
              </a:rPr>
              <a:t>并报错拒绝静默截断</a:t>
            </a:r>
            <a:r>
              <a:rPr lang="zh-CN" sz="1200">
                <a:solidFill>
                  <a:srgbClr val="1F2429"/>
                </a:solidFill>
                <a:latin typeface="Microsoft YaHei"/>
                <a:ea typeface="Microsoft YaHei"/>
              </a:rPr>
              <a:t>——这条红线来自</a:t>
            </a:r>
            <a:r>
              <a:rPr lang="en-US" sz="1200">
                <a:solidFill>
                  <a:srgbClr val="1F2429"/>
                </a:solidFill>
                <a:latin typeface="Microsoft YaHei"/>
                <a:ea typeface="Microsoft YaHei"/>
              </a:rPr>
              <a:t> ParserCore </a:t>
            </a:r>
            <a:r>
              <a:rPr lang="zh-CN" sz="1200">
                <a:solidFill>
                  <a:srgbClr val="1F2429"/>
                </a:solidFill>
                <a:latin typeface="Microsoft YaHei"/>
                <a:ea typeface="Microsoft YaHei"/>
              </a:rPr>
              <a:t>的历史教训。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666750" y="2562225"/>
            <a:ext cx="6096000" cy="9525"/>
          </a:xfrm>
          <a:prstGeom prst="rect">
            <a:avLst/>
          </a:prstGeom>
          <a:solidFill>
            <a:srgbClr val="D9D9D2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66750" y="2762250"/>
            <a:ext cx="6096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F2429"/>
                </a:solidFill>
                <a:latin typeface="Microsoft YaHei"/>
                <a:ea typeface="Microsoft YaHei"/>
              </a:rPr>
              <a:t>Sink </a:t>
            </a:r>
            <a:r>
              <a:rPr lang="zh-CN" sz="1650" b="1">
                <a:solidFill>
                  <a:srgbClr val="1F2429"/>
                </a:solidFill>
                <a:latin typeface="Microsoft YaHei"/>
                <a:ea typeface="Microsoft YaHei"/>
              </a:rPr>
              <a:t>承载副作用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66750" y="3209925"/>
            <a:ext cx="6096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00">
                <a:solidFill>
                  <a:srgbClr val="1F2429"/>
                </a:solidFill>
                <a:latin typeface="Microsoft YaHei"/>
                <a:ea typeface="Microsoft YaHei"/>
              </a:rPr>
              <a:t>OutputWrite / RegWrite / CounterAdd </a:t>
            </a:r>
            <a:r>
              <a:rPr lang="zh-CN" sz="1200">
                <a:solidFill>
                  <a:srgbClr val="1F2429"/>
                </a:solidFill>
                <a:latin typeface="Microsoft YaHei"/>
                <a:ea typeface="Microsoft YaHei"/>
              </a:rPr>
              <a:t>三类</a:t>
            </a:r>
            <a:r>
              <a:rPr lang="en-US" sz="1200">
                <a:solidFill>
                  <a:srgbClr val="1F2429"/>
                </a:solidFill>
                <a:latin typeface="Microsoft YaHei"/>
                <a:ea typeface="Microsoft YaHei"/>
              </a:rPr>
              <a:t> Sink </a:t>
            </a:r>
            <a:r>
              <a:rPr lang="zh-CN" sz="1200">
                <a:solidFill>
                  <a:srgbClr val="1F2429"/>
                </a:solidFill>
                <a:latin typeface="Microsoft YaHei"/>
                <a:ea typeface="Microsoft YaHei"/>
              </a:rPr>
              <a:t>统一表达「写字段、写状态寄存器、加计数器」；切拍调度把所有</a:t>
            </a:r>
            <a:r>
              <a:rPr lang="en-US" sz="1200">
                <a:solidFill>
                  <a:srgbClr val="1F2429"/>
                </a:solidFill>
                <a:latin typeface="Microsoft YaHei"/>
                <a:ea typeface="Microsoft YaHei"/>
              </a:rPr>
              <a:t> Sink </a:t>
            </a:r>
            <a:r>
              <a:rPr lang="zh-CN" sz="1200">
                <a:solidFill>
                  <a:srgbClr val="1F2429"/>
                </a:solidFill>
                <a:latin typeface="Microsoft YaHei"/>
                <a:ea typeface="Microsoft YaHei"/>
              </a:rPr>
              <a:t>固定在末级，读写冲突在结构上不可能发生。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66750" y="4029075"/>
            <a:ext cx="6096000" cy="9525"/>
          </a:xfrm>
          <a:prstGeom prst="rect">
            <a:avLst/>
          </a:prstGeom>
          <a:solidFill>
            <a:srgbClr val="D9D9D2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66750" y="4229100"/>
            <a:ext cx="6096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F2429"/>
                </a:solidFill>
                <a:latin typeface="Microsoft YaHei"/>
                <a:ea typeface="Microsoft YaHei"/>
              </a:rPr>
              <a:t>Pass </a:t>
            </a:r>
            <a:r>
              <a:rPr lang="zh-CN" sz="1650" b="1">
                <a:solidFill>
                  <a:srgbClr val="1F2429"/>
                </a:solidFill>
                <a:latin typeface="Microsoft YaHei"/>
                <a:ea typeface="Microsoft YaHei"/>
              </a:rPr>
              <a:t>链与顺序约束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66750" y="4676775"/>
            <a:ext cx="6096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常量折叠</a:t>
            </a:r>
            <a:r>
              <a:rPr lang="en-US" sz="1200">
                <a:solidFill>
                  <a:srgbClr val="6B7280"/>
                </a:solidFill>
                <a:latin typeface="Microsoft YaHei"/>
                <a:ea typeface="Microsoft YaHei"/>
              </a:rPr>
              <a:t> → CSE → DCE </a:t>
            </a: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在调度前完成；调度标注（</a:t>
            </a:r>
            <a:r>
              <a:rPr lang="en-US" sz="1200">
                <a:solidFill>
                  <a:srgbClr val="6B7280"/>
                </a:solidFill>
                <a:latin typeface="Microsoft YaHei"/>
                <a:ea typeface="Microsoft YaHei"/>
              </a:rPr>
              <a:t>stages</a:t>
            </a: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）附着在</a:t>
            </a:r>
            <a:r>
              <a:rPr lang="en-US" sz="1200">
                <a:solidFill>
                  <a:srgbClr val="6B7280"/>
                </a:solidFill>
                <a:latin typeface="Microsoft YaHei"/>
                <a:ea typeface="Microsoft YaHei"/>
              </a:rPr>
              <a:t> Dag </a:t>
            </a: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上而非节点内，三个优化</a:t>
            </a:r>
            <a:r>
              <a:rPr lang="en-US" sz="1200">
                <a:solidFill>
                  <a:srgbClr val="6B7280"/>
                </a:solidFill>
                <a:latin typeface="Microsoft YaHei"/>
                <a:ea typeface="Microsoft YaHei"/>
              </a:rPr>
              <a:t> pass </a:t>
            </a: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零改动平滑共存。</a:t>
            </a:r>
            <a:endParaRPr/>
          </a:p>
        </p:txBody>
      </p:sp>
      <p:pic>
        <p:nvPicPr>
          <p:cNvPr id="1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334250" y="1809750"/>
            <a:ext cx="4095750" cy="3810000"/>
          </a:xfrm>
          <a:prstGeom prst="rect">
            <a:avLst/>
          </a:prstGeom>
          <a:ln/>
        </p:spPr>
      </p:pic>
      <p:sp>
        <p:nvSpPr>
          <p:cNvPr id="162" name=""/>
          <p:cNvSpPr/>
          <p:nvPr/>
        </p:nvSpPr>
        <p:spPr>
          <a:xfrm rot="0" flipH="0" flipV="0">
            <a:off x="666750" y="6419850"/>
            <a:ext cx="95250" cy="9525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838200" y="6400800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B7280"/>
                </a:solidFill>
                <a:latin typeface="Microsoft YaHei"/>
                <a:ea typeface="Microsoft YaHei"/>
              </a:rPr>
              <a:t>P4C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1172825" y="6400800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08 / 14</a:t>
            </a:r>
            <a:endParaRPr/>
          </a:p>
        </p:txBody>
      </p:sp>
    </p:spTree>
  </p:cSld>
</p:sld>
</file>

<file path=ppt/slides/slide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65" name="" descr="&lt;Slide style={{ width: 1280, height: 720, background: '#FAFAF7', padding: '20px 70px 0', flexDirection: 'column' }}&gt;&#10;  &lt;Box style={{ height: 90, justifyContent: 'flex-end' }}&gt;&#10;    &lt;Text style={{ fontSize: 34, fontWeight: 'bold', color: '#1F2429' }}&gt;路径切拍：多拍流水化&lt;/Text&gt;&#10;    &lt;Box style={{ width: 56, height: 3, background: '#185FA5', marginTop: 12 }} /&gt;&#10;  &lt;/Box&gt;&#10;  &lt;Box style={{ height: 520, marginTop: 20, flexDirection: 'row' }}&gt;&#10;    &lt;Box style={{ width: 330, flexDirection: 'column', gap: 24, paddingTop: 6, paddingRight: 40 }}&gt;&#10;      &lt;Box style={{ width: 56, height: 3, background: '#185FA5' }} /&gt;&#10;      &lt;Text style={{ fontSize: 24, fontWeight: 'bold', color: '#1F2429', lineHeight: 1.4 }}&gt;关键路径过长时，把组合 DAG 切成 N 级&lt;/Text&gt;&#10;      &lt;Text style={{ fontSize: 15, color: '#6B7280', lineHeight: 1.7 }}&gt;参考 XLS 调度思想，N=1 时走原发射路径，生成代码与基线逐字节一致。&lt;/Text&gt;&#10;      &lt;Text style={{ fontSize: 15, color: '#6B7280', lineHeight: 1.7 }}&gt;Parser 单状态提取是纯布线，切拍无收益——范围上明确排除。&lt;/Text&gt;&#10;    &lt;/Box&gt;&#10;    &lt;Box style={{ flex: 1, flexDirection: 'column', gap: 20, paddingTop: 4 }}&gt;&#10;      &lt;Box style={{ flexDirection: 'row', gap: 16 }}&gt;&#10;        &lt;Box style={{ flex: 1, border: '1px solid #D9D9D2', background: '#FFFFFF', padding: 20, height: 150 }}&gt;&#10;          &lt;Text style={{ fontSize: 17, fontWeight: 'bold', color: '#185FA5' }}&gt;加权分桶调度&lt;/Text&gt;&#10;          &lt;Text style={{ fontSize: 14, color: '#1F2429', lineHeight: 1.65, marginTop: 8 }}&gt;布线类节点权重 0，Bin/Mux 为 1，RegRead 为 2；按加权深度均匀切分，所有 Sink 固定末级——读写跨拍冲突结构上不可能。&lt;/Text&gt;&#10;        &lt;/Box&gt;&#10;        &lt;Box style={{ flex: 1, border: '1px solid #D9D9D2', background: '#FFFFFF', padding: 20, height: 150 }}&gt;&#10;          &lt;Text style={{ fontSize: 17, fontWeight: 'bold', color: '#185FA5' }}&gt;声明级编译指示&lt;/Text&gt;&#10;          &lt;Text style={{ fontSize: 14, color: '#1F2429', lineHeight: 1.65, marginTop: 8 }}&gt;在 control/action 声明上方写 &lt;span style={{ fontFamily: 'JetBrains Mono', fontSize: 13 }}&gt;// p4c: stages=N&lt;/span&gt; 即可覆盖全局拍数预算；紧邻生效、孤儿告警、非法值报错。&lt;/Text&gt;&#10;        &lt;/Box&gt;&#10;      &lt;/Box&gt;&#10;      &lt;Box style={{ border: '1px solid #D9D9D2', background: '#FFFFFF', padding: 20, height: 240 }}&gt;&#10;        &lt;Text style={{ fontSize: 17, fontWeight: 'bold', color: '#1F2429' }}&gt;valid 链：一个真 bug 教训&lt;/Text&gt;&#10;        &lt;svg width={620} height={130} viewBox='0 0 620 130'&gt;&#10;          &lt;rect x='10' y='20' width='110' height='40' fill='none' stroke='#1F2429' strokeWidth='2' /&gt;&#10;          &lt;text x='65' y='46' fontFamily='JetBrains Mono' fontSize='13' fill='#1F2429' text-anchor='middle'&gt;io.valid&lt;/text&gt;&#10;          &lt;line x1='120' y1='40' x2='160' y2='40' stroke='#1F2429' strokeWidth='2' /&gt;&#10;          &lt;rect x='160' y='20' width='110' height='40' fill='#185FA5' /&gt;&#10;          &lt;text x='215' y='46' fontFamily='JetBrains Mono' fontSize='13' fill='#FFFFFF' text-anchor='middle'&gt;RegNext sV1&lt;/text&gt;&#10;          &lt;line x1='270' y1='40' x2='310' y2='40' stroke='#1F2429' strokeWidth='2' /&gt;&#10;          &lt;rect x='310' y='20' width='110' height='40' fill='#185FA5' /&gt;&#10;          &lt;text x='365' y='46' fontFamily='JetBrains Mono' fontSize='13' fill='#FFFFFF' text-anchor='middle'&gt;RegNext sV2&lt;/text&gt;&#10;          &lt;line x1='420' y1='40' x2='460' y2='40' stroke='#1F2429' strokeWidth='2' /&gt;&#10;          &lt;rect x='460' y='20' width='150' height='40' fill='none' stroke='#1F2429' strokeWidth='2' /&gt;&#10;          &lt;text x='535' y='46' fontFamily='JetBrains Mono' fontSize='13' fill='#1F2429' text-anchor='middle'&gt;状态写 @ 末级&lt;/text&gt;&#10;          &lt;text x='10' y='100' fontSize='13' fill='#6B7280'&gt;✕ RegEnable（en 低时保持旧值 → 链永久锁高 → 末级重复写）  ✓ RegNext 纯延迟线（脉冲逐级传播自动清零）&lt;/text&gt;&#10;        &lt;/svg&gt;&#10;        &lt;Text style={{ fontSize: 14, color: '#1F2429', lineHeight: 1.65, marginTop: 6 }}&gt;此坑已被固化为「outValid 恒 1 拍脉宽」回归断言；数据边界寄存器相反保留 RegEnable，数据需保持到被下一级消费。&lt;/Text&gt;&#10;      &lt;/Box&gt;&#10;    &lt;/Box&gt;&#10;  &lt;/Box&gt;&#10;  &lt;Box style={{ height: 30, marginTop: 14, flexDirection: 'row', alignItems: 'center', justifyContent: 'space-between' }}&gt;&#10;    &lt;Box style={{ flexDirection: 'row', alignItems: 'center', gap: 8 }}&gt;&#10;      &lt;Box style={{ width: 10, height: 10, background: '#185FA5' }} /&gt;&#10;      &lt;Text style={{ fontSize: 11, color: '#6B7280' }}&gt;P4C&lt;/Text&gt;&#10;    &lt;/Box&gt;&#10;    &lt;Text style={{ fontSize: 12, color: '#6B7280' }}&gt;09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66750" y="5143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429"/>
                </a:solidFill>
                <a:latin typeface="Microsoft YaHei"/>
                <a:ea typeface="Microsoft YaHei"/>
              </a:rPr>
              <a:t>路径切拍：多拍流水化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66750" y="1019175"/>
            <a:ext cx="533400" cy="28575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666750" y="1295400"/>
            <a:ext cx="533400" cy="28575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66750" y="1552575"/>
            <a:ext cx="276225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1F2429"/>
                </a:solidFill>
                <a:latin typeface="Microsoft YaHei"/>
                <a:ea typeface="Microsoft YaHei"/>
              </a:rPr>
              <a:t>关键路径过长时，把组合</a:t>
            </a:r>
            <a:r>
              <a:rPr lang="en-US" sz="1800" b="1">
                <a:solidFill>
                  <a:srgbClr val="1F2429"/>
                </a:solidFill>
                <a:latin typeface="Microsoft YaHei"/>
                <a:ea typeface="Microsoft YaHei"/>
              </a:rPr>
              <a:t> DAG </a:t>
            </a:r>
            <a:r>
              <a:rPr lang="zh-CN" sz="1800" b="1">
                <a:solidFill>
                  <a:srgbClr val="1F2429"/>
                </a:solidFill>
                <a:latin typeface="Microsoft YaHei"/>
                <a:ea typeface="Microsoft YaHei"/>
              </a:rPr>
              <a:t>切成</a:t>
            </a:r>
            <a:r>
              <a:rPr lang="en-US" sz="1800" b="1">
                <a:solidFill>
                  <a:srgbClr val="1F2429"/>
                </a:solidFill>
                <a:latin typeface="Microsoft YaHei"/>
                <a:ea typeface="Microsoft YaHei"/>
              </a:rPr>
              <a:t> N </a:t>
            </a:r>
            <a:r>
              <a:rPr lang="zh-CN" sz="1800" b="1">
                <a:solidFill>
                  <a:srgbClr val="1F2429"/>
                </a:solidFill>
                <a:latin typeface="Microsoft YaHei"/>
                <a:ea typeface="Microsoft YaHei"/>
              </a:rPr>
              <a:t>级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66750" y="2552700"/>
            <a:ext cx="27622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参考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> XLS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调度思想，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>N=1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时走原发射路径，生成代码与基线逐字节一致。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66750" y="3371850"/>
            <a:ext cx="27622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>Parser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单状态提取是纯布线，切拍无收益——范围上明确排除。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3810000" y="1276350"/>
            <a:ext cx="3781425" cy="142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  <a:prstDash val="solid"/>
          </a:ln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4000500" y="1466850"/>
            <a:ext cx="3400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85FA5"/>
                </a:solidFill>
                <a:latin typeface="Microsoft YaHei"/>
                <a:ea typeface="Microsoft YaHei"/>
              </a:rPr>
              <a:t>加权分桶调度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4000500" y="1743075"/>
            <a:ext cx="3400425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1F2429"/>
                </a:solidFill>
                <a:latin typeface="Microsoft YaHei"/>
                <a:ea typeface="Microsoft YaHei"/>
              </a:rPr>
              <a:t>布线类节点权重</a:t>
            </a:r>
            <a:r>
              <a:rPr lang="en-US" sz="1050">
                <a:solidFill>
                  <a:srgbClr val="1F2429"/>
                </a:solidFill>
                <a:latin typeface="Microsoft YaHei"/>
                <a:ea typeface="Microsoft YaHei"/>
              </a:rPr>
              <a:t> 0</a:t>
            </a:r>
            <a:r>
              <a:rPr lang="zh-CN" sz="1050">
                <a:solidFill>
                  <a:srgbClr val="1F2429"/>
                </a:solidFill>
                <a:latin typeface="Microsoft YaHei"/>
                <a:ea typeface="Microsoft YaHei"/>
              </a:rPr>
              <a:t>，</a:t>
            </a:r>
            <a:r>
              <a:rPr lang="en-US" sz="1050">
                <a:solidFill>
                  <a:srgbClr val="1F2429"/>
                </a:solidFill>
                <a:latin typeface="Microsoft YaHei"/>
                <a:ea typeface="Microsoft YaHei"/>
              </a:rPr>
              <a:t>Bin/Mux </a:t>
            </a:r>
            <a:r>
              <a:rPr lang="zh-CN" sz="1050">
                <a:solidFill>
                  <a:srgbClr val="1F2429"/>
                </a:solidFill>
                <a:latin typeface="Microsoft YaHei"/>
                <a:ea typeface="Microsoft YaHei"/>
              </a:rPr>
              <a:t>为</a:t>
            </a:r>
            <a:r>
              <a:rPr lang="en-US" sz="1050">
                <a:solidFill>
                  <a:srgbClr val="1F2429"/>
                </a:solidFill>
                <a:latin typeface="Microsoft YaHei"/>
                <a:ea typeface="Microsoft YaHei"/>
              </a:rPr>
              <a:t> 1</a:t>
            </a:r>
            <a:r>
              <a:rPr lang="zh-CN" sz="1050">
                <a:solidFill>
                  <a:srgbClr val="1F2429"/>
                </a:solidFill>
                <a:latin typeface="Microsoft YaHei"/>
                <a:ea typeface="Microsoft YaHei"/>
              </a:rPr>
              <a:t>，</a:t>
            </a:r>
            <a:r>
              <a:rPr lang="en-US" sz="1050">
                <a:solidFill>
                  <a:srgbClr val="1F2429"/>
                </a:solidFill>
                <a:latin typeface="Microsoft YaHei"/>
                <a:ea typeface="Microsoft YaHei"/>
              </a:rPr>
              <a:t>RegRead </a:t>
            </a:r>
            <a:r>
              <a:rPr lang="zh-CN" sz="1050">
                <a:solidFill>
                  <a:srgbClr val="1F2429"/>
                </a:solidFill>
                <a:latin typeface="Microsoft YaHei"/>
                <a:ea typeface="Microsoft YaHei"/>
              </a:rPr>
              <a:t>为</a:t>
            </a:r>
            <a:r>
              <a:rPr lang="en-US" sz="1050">
                <a:solidFill>
                  <a:srgbClr val="1F2429"/>
                </a:solidFill>
                <a:latin typeface="Microsoft YaHei"/>
                <a:ea typeface="Microsoft YaHei"/>
              </a:rPr>
              <a:t> 2</a:t>
            </a:r>
            <a:r>
              <a:rPr lang="zh-CN" sz="1050">
                <a:solidFill>
                  <a:srgbClr val="1F2429"/>
                </a:solidFill>
                <a:latin typeface="Microsoft YaHei"/>
                <a:ea typeface="Microsoft YaHei"/>
              </a:rPr>
              <a:t>；按加权深度均匀切分，所有</a:t>
            </a:r>
            <a:r>
              <a:rPr lang="en-US" sz="1050">
                <a:solidFill>
                  <a:srgbClr val="1F2429"/>
                </a:solidFill>
                <a:latin typeface="Microsoft YaHei"/>
                <a:ea typeface="Microsoft YaHei"/>
              </a:rPr>
              <a:t> Sink </a:t>
            </a:r>
            <a:r>
              <a:rPr lang="zh-CN" sz="1050">
                <a:solidFill>
                  <a:srgbClr val="1F2429"/>
                </a:solidFill>
                <a:latin typeface="Microsoft YaHei"/>
                <a:ea typeface="Microsoft YaHei"/>
              </a:rPr>
              <a:t>固定末级——读写跨拍冲突结构上不可能。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7743825" y="1276350"/>
            <a:ext cx="3781425" cy="142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  <a:prstDash val="solid"/>
          </a:ln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7934325" y="1466850"/>
            <a:ext cx="3400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85FA5"/>
                </a:solidFill>
                <a:latin typeface="Microsoft YaHei"/>
                <a:ea typeface="Microsoft YaHei"/>
              </a:rPr>
              <a:t>声明级编译指示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7934325" y="1743075"/>
            <a:ext cx="34004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1F2429"/>
                </a:solidFill>
                <a:latin typeface="Microsoft YaHei"/>
                <a:ea typeface="Microsoft YaHei"/>
              </a:rPr>
              <a:t>在</a:t>
            </a:r>
            <a:r>
              <a:rPr lang="en-US" sz="1050">
                <a:solidFill>
                  <a:srgbClr val="1F2429"/>
                </a:solidFill>
                <a:latin typeface="Microsoft YaHei"/>
                <a:ea typeface="Microsoft YaHei"/>
              </a:rPr>
              <a:t> control/action </a:t>
            </a:r>
            <a:r>
              <a:rPr lang="zh-CN" sz="1050">
                <a:solidFill>
                  <a:srgbClr val="1F2429"/>
                </a:solidFill>
                <a:latin typeface="Microsoft YaHei"/>
                <a:ea typeface="Microsoft YaHei"/>
              </a:rPr>
              <a:t>声明上方写</a:t>
            </a:r>
            <a:r>
              <a:rPr lang="en-US" sz="1050">
                <a:solidFill>
                  <a:srgbClr val="1F2429"/>
                </a:solidFill>
                <a:latin typeface="Microsoft YaHei"/>
                <a:ea typeface="Microsoft YaHei"/>
              </a:rPr>
              <a:t> </a:t>
            </a:r>
            <a:r>
              <a:rPr lang="en-US" sz="975">
                <a:solidFill>
                  <a:srgbClr val="1F2429"/>
                </a:solidFill>
                <a:latin typeface="Microsoft YaHei"/>
                <a:ea typeface="Microsoft YaHei"/>
              </a:rPr>
              <a:t>// p4c: stages=N</a:t>
            </a:r>
            <a:r>
              <a:rPr lang="en-US" sz="1050">
                <a:solidFill>
                  <a:srgbClr val="1F2429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1F2429"/>
                </a:solidFill>
                <a:latin typeface="Microsoft YaHei"/>
                <a:ea typeface="Microsoft YaHei"/>
              </a:rPr>
              <a:t>即可覆盖全局拍数预算；紧邻生效、孤儿告警、非法值报错。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3810000" y="2895600"/>
            <a:ext cx="771525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  <a:prstDash val="solid"/>
          </a:ln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4000500" y="3086100"/>
            <a:ext cx="7334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F2429"/>
                </a:solidFill>
                <a:latin typeface="Microsoft YaHei"/>
                <a:ea typeface="Microsoft YaHei"/>
              </a:rPr>
              <a:t>valid </a:t>
            </a:r>
            <a:r>
              <a:rPr lang="zh-CN" sz="1275" b="1">
                <a:solidFill>
                  <a:srgbClr val="1F2429"/>
                </a:solidFill>
                <a:latin typeface="Microsoft YaHei"/>
                <a:ea typeface="Microsoft YaHei"/>
              </a:rPr>
              <a:t>链：一个真</a:t>
            </a:r>
            <a:r>
              <a:rPr lang="en-US" sz="1275" b="1">
                <a:solidFill>
                  <a:srgbClr val="1F2429"/>
                </a:solidFill>
                <a:latin typeface="Microsoft YaHei"/>
                <a:ea typeface="Microsoft YaHei"/>
              </a:rPr>
              <a:t> bug </a:t>
            </a:r>
            <a:r>
              <a:rPr lang="zh-CN" sz="1275" b="1">
                <a:solidFill>
                  <a:srgbClr val="1F2429"/>
                </a:solidFill>
                <a:latin typeface="Microsoft YaHei"/>
                <a:ea typeface="Microsoft YaHei"/>
              </a:rPr>
              <a:t>教训</a:t>
            </a:r>
            <a:endParaRPr/>
          </a:p>
        </p:txBody>
      </p:sp>
      <p:pic>
        <p:nvPicPr>
          <p:cNvPr id="1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00500" y="3286125"/>
            <a:ext cx="5905500" cy="1238250"/>
          </a:xfrm>
          <a:prstGeom prst="rect">
            <a:avLst/>
          </a:prstGeom>
          <a:ln/>
        </p:spPr>
      </p:pic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4000500" y="4581525"/>
            <a:ext cx="7334250" cy="266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50">
                <a:solidFill>
                  <a:srgbClr val="1F2429"/>
                </a:solidFill>
                <a:latin typeface="Microsoft YaHei"/>
                <a:ea typeface="Microsoft YaHei"/>
              </a:rPr>
              <a:t>此坑已被固化为「</a:t>
            </a:r>
            <a:r>
              <a:rPr lang="en-US" sz="1050">
                <a:solidFill>
                  <a:srgbClr val="1F2429"/>
                </a:solidFill>
                <a:latin typeface="Microsoft YaHei"/>
                <a:ea typeface="Microsoft YaHei"/>
              </a:rPr>
              <a:t>outValid </a:t>
            </a:r>
            <a:r>
              <a:rPr lang="zh-CN" sz="1050">
                <a:solidFill>
                  <a:srgbClr val="1F2429"/>
                </a:solidFill>
                <a:latin typeface="Microsoft YaHei"/>
                <a:ea typeface="Microsoft YaHei"/>
              </a:rPr>
              <a:t>恒</a:t>
            </a:r>
            <a:r>
              <a:rPr lang="en-US" sz="1050">
                <a:solidFill>
                  <a:srgbClr val="1F2429"/>
                </a:solidFill>
                <a:latin typeface="Microsoft YaHei"/>
                <a:ea typeface="Microsoft YaHei"/>
              </a:rPr>
              <a:t> 1 </a:t>
            </a:r>
            <a:r>
              <a:rPr lang="zh-CN" sz="1050">
                <a:solidFill>
                  <a:srgbClr val="1F2429"/>
                </a:solidFill>
                <a:latin typeface="Microsoft YaHei"/>
                <a:ea typeface="Microsoft YaHei"/>
              </a:rPr>
              <a:t>拍脉宽」回归断言；数据边界寄存器相反保留</a:t>
            </a:r>
            <a:r>
              <a:rPr lang="en-US" sz="1050">
                <a:solidFill>
                  <a:srgbClr val="1F2429"/>
                </a:solidFill>
                <a:latin typeface="Microsoft YaHei"/>
                <a:ea typeface="Microsoft YaHei"/>
              </a:rPr>
              <a:t> RegEnable</a:t>
            </a:r>
            <a:r>
              <a:rPr lang="zh-CN" sz="1050">
                <a:solidFill>
                  <a:srgbClr val="1F2429"/>
                </a:solidFill>
                <a:latin typeface="Microsoft YaHei"/>
                <a:ea typeface="Microsoft YaHei"/>
              </a:rPr>
              <a:t>，数据需保持到被下一级消费。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666750" y="6419850"/>
            <a:ext cx="95250" cy="9525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838200" y="6400800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B7280"/>
                </a:solidFill>
                <a:latin typeface="Microsoft YaHei"/>
                <a:ea typeface="Microsoft YaHei"/>
              </a:rPr>
              <a:t>P4C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1172825" y="6400800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09 / 14</a:t>
            </a:r>
            <a:endParaRPr/>
          </a:p>
        </p:txBody>
      </p:sp>
    </p:spTree>
  </p:cSld>
</p:sld>
</file>

<file path=ppt/slides/slide1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0" name="" descr="&lt;Slide style={{ width: 1280, height: 720, background: '#FAFAF7', padding: '20px 70px 0', flexDirection: 'column' }}&gt;&#10;  &lt;Box style={{ height: 90, justifyContent: 'flex-end' }}&gt;&#10;    &lt;Text style={{ fontSize: 34, fontWeight: 'bold', color: '#1F2429' }}&gt;运行时表项：表从编译期到运行时&lt;/Text&gt;&#10;    &lt;Box style={{ width: 56, height: 3, background: '#185FA5', marginTop: 12 }} /&gt;&#10;  &lt;/Box&gt;&#10;  &lt;Box style={{ height: 520, marginTop: 20, flexDirection: 'row', gap: 50 }}&gt;&#10;    &lt;Box style={{ width: 640, flexDirection: 'column', gap: 20, paddingTop: 6 }}&gt;&#10;      &lt;Text style={{ fontSize: 22, fontWeight: 'bold', color: '#1F2429' }}&gt;指示开启，Vec 存储，写后下一条查找可见&lt;/Text&gt;&#10;      &lt;Text style={{ fontSize: 16, color: '#1F2429', lineHeight: 1.7 }}&gt;表声明上方 &lt;span style={{ fontFamily: 'JetBrains Mono', fontSize: 14 }}&gt;// p4c: table X runtime size=4&lt;/span&gt; 即生成可写表：Vec 寄存器组合读、独立写端口、越界写守卫。&lt;strong&gt;不做同拍旁路&lt;/strong&gt;，写拍当拍见旧值、下一拍起新值——无撕裂。&lt;/Text&gt;&#10;      &lt;Box style={{ height: 1, background: '#D9D9D2' }} /&gt;&#10;      &lt;Text style={{ fontSize: 22, fontWeight: 'bold', color: '#1F2429' }}&gt;action 参数运行时化：IR 零改动&lt;/Text&gt;&#10;      &lt;Text style={{ fontSize: 16, color: '#1F2429', lineHeight: 1.7 }}&gt;条目携带 actionId + 参数位串；命中后按 id 选通参数化 action 逻辑，参数从存储切片解出（形参合成 &lt;span style={{ fontFamily: 'JetBrains Mono', fontSize: 14 }}&gt;__rtarg&lt;/span&gt; InputRef）。Scheduler 与 valid 链语义完全不受影响。&lt;/Text&gt;&#10;      &lt;Box style={{ height: 1, background: '#D9D9D2' }} /&gt;&#10;      &lt;Text style={{ fontSize: 22, fontWeight: 'bold', color: '#1F2429' }}&gt;静态模式逐字节零回归&lt;/Text&gt;&#10;      &lt;Text style={{ fontSize: 16, color: '#6B7280', lineHeight: 1.7 }}&gt;无指示的表仍走原静态融合路径；运行时表与静态表可在同一 control 共存。SRAM 映射、lpm/ternary key 留作后续。&lt;/Text&gt;&#10;    &lt;/Box&gt;&#10;    &lt;Box style={{ flex: 1, alignItems: 'center', justifyContent: 'center' }}&gt;&#10;      &lt;svg width={420} height={340} viewBox='0 0 420 340'&gt;&#10;        &lt;text x='10' y='30' fontFamily='JetBrains Mono' fontSize='13' fill='#6B7280'&gt;ENTRY LAYOUT (MSB → LSB)&lt;/text&gt;&#10;        &lt;rect x='10' y='50' width='70' height='56' fill='#185FA5' /&gt;&#10;        &lt;text x='45' y='84' fontSize='14' fill='#FFFFFF' text-anchor='middle'&gt;valid&lt;/text&gt;&#10;        &lt;rect x='80' y='50' width='90' height='56' fill='#FFFFFF' stroke='#1F2429' strokeWidth='2' /&gt;&#10;        &lt;text x='125' y='84' fontSize='14' fill='#1F2429' text-anchor='middle'&gt;actionId&lt;/text&gt;&#10;        &lt;rect x='170' y='50' width='130' height='56' fill='#FFFFFF' stroke='#1F2429' strokeWidth='2' /&gt;&#10;        &lt;text x='235' y='84' fontSize='14' fill='#1F2429' text-anchor='middle'&gt;参数位串&lt;/text&gt;&#10;        &lt;rect x='300' y='50' width='110' height='56' fill='#FFFFFF' stroke='#1F2429' strokeWidth='2' /&gt;&#10;        &lt;text x='355' y='84' fontSize='14' fill='#1F2429' text-anchor='middle'&gt;key&lt;/text&gt;&#10;        &lt;text x='10' y='150' fontSize='14' fill='#1F2429'&gt;上电全 0 → 全 miss → default（编译期固定）&lt;/text&gt;&#10;        &lt;rect x='10' y='180' width='400' height='2' fill='#D9D9D2' /&gt;&#10;        &lt;text x='10' y='215' fontFamily='JetBrains Mono' fontSize='13' fill='#6B7280'&gt;WRITE PATH&lt;/text&gt;&#10;        &lt;rect x='10' y='230' width='90' height='40' fill='none' stroke='#1F2429' strokeWidth='2' /&gt;&#10;        &lt;text x='55' y='255' fontFamily='JetBrains Mono' fontSize='13' fill='#1F2429' text-anchor='middle'&gt;we&lt;/text&gt;&#10;        &lt;rect x='110' y='230' width='90' height='40' fill='none' stroke='#1F2429' strokeWidth='2' /&gt;&#10;        &lt;text x='155' y='255' fontFamily='JetBrains Mono' fontSize='13' fill='#1F2429' text-anchor='middle'&gt;waddr&lt;/text&gt;&#10;        &lt;rect x='210' y='230' width='110' height='40' fill='none' stroke='#1F2429' strokeWidth='2' /&gt;&#10;        &lt;text x='265' y='255' fontFamily='JetBrains Mono' fontSize='13' fill='#1F2429' text-anchor='middle'&gt;wdata&lt;/text&gt;&#10;        &lt;line x1='320' y1='250' x2='360' y2='250' stroke='#185FA5' strokeWidth='2' /&gt;&#10;        &lt;rect x='360' y='230' width='50' height='40' fill='#185FA5' /&gt;&#10;        &lt;text x='385' y='255' fontSize='13' fill='#FFFFFF' text-anchor='middle'&gt;Vec&lt;/text&gt;&#10;        &lt;text x='10' y='310' fontSize='13' fill='#6B7280'&gt;越界写守卫：waddr &amp;lt; size；重复 key 低地址优先&lt;/text&gt;&#10;      &lt;/svg&gt;&#10;    &lt;/Box&gt;&#10;  &lt;/Box&gt;&#10;  &lt;Box style={{ height: 30, marginTop: 14, flexDirection: 'row', alignItems: 'center', justifyContent: 'space-between' }}&gt;&#10;    &lt;Box style={{ flexDirection: 'row', alignItems: 'center', gap: 8 }}&gt;&#10;      &lt;Box style={{ width: 10, height: 10, background: '#185FA5' }} /&gt;&#10;      &lt;Text style={{ fontSize: 11, color: '#6B7280' }}&gt;P4C&lt;/Text&gt;&#10;    &lt;/Box&gt;&#10;    &lt;Text style={{ fontSize: 12, color: '#6B7280' }}&gt;10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66750" y="5143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429"/>
                </a:solidFill>
                <a:latin typeface="Microsoft YaHei"/>
                <a:ea typeface="Microsoft YaHei"/>
              </a:rPr>
              <a:t>运行时表项：表从编译期到运行时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666750" y="1019175"/>
            <a:ext cx="533400" cy="28575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666750" y="1295400"/>
            <a:ext cx="6096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2429"/>
                </a:solidFill>
                <a:latin typeface="Microsoft YaHei"/>
                <a:ea typeface="Microsoft YaHei"/>
              </a:rPr>
              <a:t>指示开启，</a:t>
            </a:r>
            <a:r>
              <a:rPr lang="en-US" sz="1650" b="1">
                <a:solidFill>
                  <a:srgbClr val="1F2429"/>
                </a:solidFill>
                <a:latin typeface="Microsoft YaHei"/>
                <a:ea typeface="Microsoft YaHei"/>
              </a:rPr>
              <a:t>Vec </a:t>
            </a:r>
            <a:r>
              <a:rPr lang="zh-CN" sz="1650" b="1">
                <a:solidFill>
                  <a:srgbClr val="1F2429"/>
                </a:solidFill>
                <a:latin typeface="Microsoft YaHei"/>
                <a:ea typeface="Microsoft YaHei"/>
              </a:rPr>
              <a:t>存储，写后下一条查找可见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66750" y="1743075"/>
            <a:ext cx="6096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1F2429"/>
                </a:solidFill>
                <a:latin typeface="Microsoft YaHei"/>
                <a:ea typeface="Microsoft YaHei"/>
              </a:rPr>
              <a:t>表声明上方</a:t>
            </a:r>
            <a:r>
              <a:rPr lang="en-US" sz="1200">
                <a:solidFill>
                  <a:srgbClr val="1F2429"/>
                </a:solidFill>
                <a:latin typeface="Microsoft YaHei"/>
                <a:ea typeface="Microsoft YaHei"/>
              </a:rPr>
              <a:t> </a:t>
            </a:r>
            <a:r>
              <a:rPr lang="en-US" sz="1050">
                <a:solidFill>
                  <a:srgbClr val="1F2429"/>
                </a:solidFill>
                <a:latin typeface="Microsoft YaHei"/>
                <a:ea typeface="Microsoft YaHei"/>
              </a:rPr>
              <a:t>// p4c: table X runtime size=4</a:t>
            </a:r>
            <a:r>
              <a:rPr lang="en-US" sz="1200">
                <a:solidFill>
                  <a:srgbClr val="1F2429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1F2429"/>
                </a:solidFill>
                <a:latin typeface="Microsoft YaHei"/>
                <a:ea typeface="Microsoft YaHei"/>
              </a:rPr>
              <a:t>即生成可写表：</a:t>
            </a:r>
            <a:r>
              <a:rPr lang="en-US" sz="1200">
                <a:solidFill>
                  <a:srgbClr val="1F2429"/>
                </a:solidFill>
                <a:latin typeface="Microsoft YaHei"/>
                <a:ea typeface="Microsoft YaHei"/>
              </a:rPr>
              <a:t>Vec </a:t>
            </a:r>
            <a:r>
              <a:rPr lang="zh-CN" sz="1200">
                <a:solidFill>
                  <a:srgbClr val="1F2429"/>
                </a:solidFill>
                <a:latin typeface="Microsoft YaHei"/>
                <a:ea typeface="Microsoft YaHei"/>
              </a:rPr>
              <a:t>寄存器组合读、独立写端口、越界写守卫。</a:t>
            </a:r>
            <a:r>
              <a:rPr lang="zh-CN" sz="1200" b="1">
                <a:solidFill>
                  <a:srgbClr val="1F2429"/>
                </a:solidFill>
                <a:latin typeface="Microsoft YaHei"/>
                <a:ea typeface="Microsoft YaHei"/>
              </a:rPr>
              <a:t>不做同拍旁路</a:t>
            </a:r>
            <a:r>
              <a:rPr lang="zh-CN" sz="1200">
                <a:solidFill>
                  <a:srgbClr val="1F2429"/>
                </a:solidFill>
                <a:latin typeface="Microsoft YaHei"/>
                <a:ea typeface="Microsoft YaHei"/>
              </a:rPr>
              <a:t>，写拍当拍见旧值、下一拍起新值——无撕裂。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666750" y="2562225"/>
            <a:ext cx="6096000" cy="9525"/>
          </a:xfrm>
          <a:prstGeom prst="rect">
            <a:avLst/>
          </a:prstGeom>
          <a:solidFill>
            <a:srgbClr val="D9D9D2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66750" y="2762250"/>
            <a:ext cx="6096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F2429"/>
                </a:solidFill>
                <a:latin typeface="Microsoft YaHei"/>
                <a:ea typeface="Microsoft YaHei"/>
              </a:rPr>
              <a:t>action </a:t>
            </a:r>
            <a:r>
              <a:rPr lang="zh-CN" sz="1650" b="1">
                <a:solidFill>
                  <a:srgbClr val="1F2429"/>
                </a:solidFill>
                <a:latin typeface="Microsoft YaHei"/>
                <a:ea typeface="Microsoft YaHei"/>
              </a:rPr>
              <a:t>参数运行时化：</a:t>
            </a:r>
            <a:r>
              <a:rPr lang="en-US" sz="1650" b="1">
                <a:solidFill>
                  <a:srgbClr val="1F2429"/>
                </a:solidFill>
                <a:latin typeface="Microsoft YaHei"/>
                <a:ea typeface="Microsoft YaHei"/>
              </a:rPr>
              <a:t>IR </a:t>
            </a:r>
            <a:r>
              <a:rPr lang="zh-CN" sz="1650" b="1">
                <a:solidFill>
                  <a:srgbClr val="1F2429"/>
                </a:solidFill>
                <a:latin typeface="Microsoft YaHei"/>
                <a:ea typeface="Microsoft YaHei"/>
              </a:rPr>
              <a:t>零改动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66750" y="3209925"/>
            <a:ext cx="6096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1F2429"/>
                </a:solidFill>
                <a:latin typeface="Microsoft YaHei"/>
                <a:ea typeface="Microsoft YaHei"/>
              </a:rPr>
              <a:t>条目携带</a:t>
            </a:r>
            <a:r>
              <a:rPr lang="en-US" sz="1200">
                <a:solidFill>
                  <a:srgbClr val="1F2429"/>
                </a:solidFill>
                <a:latin typeface="Microsoft YaHei"/>
                <a:ea typeface="Microsoft YaHei"/>
              </a:rPr>
              <a:t> actionId + </a:t>
            </a:r>
            <a:r>
              <a:rPr lang="zh-CN" sz="1200">
                <a:solidFill>
                  <a:srgbClr val="1F2429"/>
                </a:solidFill>
                <a:latin typeface="Microsoft YaHei"/>
                <a:ea typeface="Microsoft YaHei"/>
              </a:rPr>
              <a:t>参数位串；命中后按</a:t>
            </a:r>
            <a:r>
              <a:rPr lang="en-US" sz="1200">
                <a:solidFill>
                  <a:srgbClr val="1F2429"/>
                </a:solidFill>
                <a:latin typeface="Microsoft YaHei"/>
                <a:ea typeface="Microsoft YaHei"/>
              </a:rPr>
              <a:t> id </a:t>
            </a:r>
            <a:r>
              <a:rPr lang="zh-CN" sz="1200">
                <a:solidFill>
                  <a:srgbClr val="1F2429"/>
                </a:solidFill>
                <a:latin typeface="Microsoft YaHei"/>
                <a:ea typeface="Microsoft YaHei"/>
              </a:rPr>
              <a:t>选通参数化</a:t>
            </a:r>
            <a:r>
              <a:rPr lang="en-US" sz="1200">
                <a:solidFill>
                  <a:srgbClr val="1F2429"/>
                </a:solidFill>
                <a:latin typeface="Microsoft YaHei"/>
                <a:ea typeface="Microsoft YaHei"/>
              </a:rPr>
              <a:t> action </a:t>
            </a:r>
            <a:r>
              <a:rPr lang="zh-CN" sz="1200">
                <a:solidFill>
                  <a:srgbClr val="1F2429"/>
                </a:solidFill>
                <a:latin typeface="Microsoft YaHei"/>
                <a:ea typeface="Microsoft YaHei"/>
              </a:rPr>
              <a:t>逻辑，参数从存储切片解出（形参合成</a:t>
            </a:r>
            <a:r>
              <a:rPr lang="en-US" sz="1200">
                <a:solidFill>
                  <a:srgbClr val="1F2429"/>
                </a:solidFill>
                <a:latin typeface="Microsoft YaHei"/>
                <a:ea typeface="Microsoft YaHei"/>
              </a:rPr>
              <a:t> </a:t>
            </a:r>
            <a:r>
              <a:rPr lang="en-US" sz="1050">
                <a:solidFill>
                  <a:srgbClr val="1F2429"/>
                </a:solidFill>
                <a:latin typeface="Microsoft YaHei"/>
                <a:ea typeface="Microsoft YaHei"/>
              </a:rPr>
              <a:t>__rtarg</a:t>
            </a:r>
            <a:r>
              <a:rPr lang="en-US" sz="1200">
                <a:solidFill>
                  <a:srgbClr val="1F2429"/>
                </a:solidFill>
                <a:latin typeface="Microsoft YaHei"/>
                <a:ea typeface="Microsoft YaHei"/>
              </a:rPr>
              <a:t> InputRef</a:t>
            </a:r>
            <a:r>
              <a:rPr lang="zh-CN" sz="1200">
                <a:solidFill>
                  <a:srgbClr val="1F2429"/>
                </a:solidFill>
                <a:latin typeface="Microsoft YaHei"/>
                <a:ea typeface="Microsoft YaHei"/>
              </a:rPr>
              <a:t>）。</a:t>
            </a:r>
            <a:r>
              <a:rPr lang="en-US" sz="1200">
                <a:solidFill>
                  <a:srgbClr val="1F2429"/>
                </a:solidFill>
                <a:latin typeface="Microsoft YaHei"/>
                <a:ea typeface="Microsoft YaHei"/>
              </a:rPr>
              <a:t>Scheduler </a:t>
            </a:r>
            <a:r>
              <a:rPr lang="zh-CN" sz="1200">
                <a:solidFill>
                  <a:srgbClr val="1F2429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1F2429"/>
                </a:solidFill>
                <a:latin typeface="Microsoft YaHei"/>
                <a:ea typeface="Microsoft YaHei"/>
              </a:rPr>
              <a:t> valid </a:t>
            </a:r>
            <a:r>
              <a:rPr lang="zh-CN" sz="1200">
                <a:solidFill>
                  <a:srgbClr val="1F2429"/>
                </a:solidFill>
                <a:latin typeface="Microsoft YaHei"/>
                <a:ea typeface="Microsoft YaHei"/>
              </a:rPr>
              <a:t>链语义完全不受影响。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66750" y="4029075"/>
            <a:ext cx="6096000" cy="9525"/>
          </a:xfrm>
          <a:prstGeom prst="rect">
            <a:avLst/>
          </a:prstGeom>
          <a:solidFill>
            <a:srgbClr val="D9D9D2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66750" y="4229100"/>
            <a:ext cx="6096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2429"/>
                </a:solidFill>
                <a:latin typeface="Microsoft YaHei"/>
                <a:ea typeface="Microsoft YaHei"/>
              </a:rPr>
              <a:t>静态模式逐字节零回归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66750" y="4676775"/>
            <a:ext cx="6096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无指示的表仍走原静态融合路径；运行时表与静态表可在同一</a:t>
            </a:r>
            <a:r>
              <a:rPr lang="en-US" sz="1200">
                <a:solidFill>
                  <a:srgbClr val="6B7280"/>
                </a:solidFill>
                <a:latin typeface="Microsoft YaHei"/>
                <a:ea typeface="Microsoft YaHei"/>
              </a:rPr>
              <a:t> control </a:t>
            </a: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共存。</a:t>
            </a:r>
            <a:r>
              <a:rPr lang="en-US" sz="1200">
                <a:solidFill>
                  <a:srgbClr val="6B7280"/>
                </a:solidFill>
                <a:latin typeface="Microsoft YaHei"/>
                <a:ea typeface="Microsoft YaHei"/>
              </a:rPr>
              <a:t>SRAM </a:t>
            </a: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映射、</a:t>
            </a:r>
            <a:r>
              <a:rPr lang="en-US" sz="1200">
                <a:solidFill>
                  <a:srgbClr val="6B7280"/>
                </a:solidFill>
                <a:latin typeface="Microsoft YaHei"/>
                <a:ea typeface="Microsoft YaHei"/>
              </a:rPr>
              <a:t>lpm/ternary key </a:t>
            </a: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留作后续。</a:t>
            </a:r>
            <a:endParaRPr/>
          </a:p>
        </p:txBody>
      </p:sp>
      <p:pic>
        <p:nvPicPr>
          <p:cNvPr id="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381875" y="2095500"/>
            <a:ext cx="4000500" cy="3238500"/>
          </a:xfrm>
          <a:prstGeom prst="rect">
            <a:avLst/>
          </a:prstGeom>
          <a:ln/>
        </p:spPr>
      </p:pic>
      <p:sp>
        <p:nvSpPr>
          <p:cNvPr id="23" name=""/>
          <p:cNvSpPr/>
          <p:nvPr/>
        </p:nvSpPr>
        <p:spPr>
          <a:xfrm rot="0" flipH="0" flipV="0">
            <a:off x="666750" y="6419850"/>
            <a:ext cx="95250" cy="9525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38200" y="6400800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B7280"/>
                </a:solidFill>
                <a:latin typeface="Microsoft YaHei"/>
                <a:ea typeface="Microsoft YaHei"/>
              </a:rPr>
              <a:t>P4C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1172825" y="6400800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10 / 14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26" name="" descr="&lt;Slide style={{ width: 1280, height: 720, background: '#FAFAF7', position: 'relative' }}&gt;&#10;  &lt;Text style={{ position: 'absolute', top: 150, left: 70, fontSize: 150, fontWeight: 'bold', color: '#B5D4F4', lineHeight: 1 }}&gt;03&lt;/Text&gt;&#10;  &lt;Box style={{ position: 'absolute', top: 380, left: 74 }}&gt;&#10;    &lt;Box style={{ width: 56, height: 3, background: '#185FA5' }} /&gt;&#10;    &lt;Text style={{ fontSize: 44, fontWeight: 'bold', color: '#1F2429', marginTop: 24 }}&gt;质量与展望&lt;/Text&gt;&#10;    &lt;Text style={{ fontSize: 16, color: '#6B7280', marginTop: 18, lineHeight: 1.6 }}&gt;怎么证明它是对的、接下来去哪&lt;/Text&gt;&#10;  &lt;/Box&gt;&#10;  &lt;Text style={{ position: 'absolute', top: 620, left: 70, fontSize: 12, color: '#6B7280' }}&gt;QUALITY &amp;amp; ROADMAP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66750" y="1428750"/>
            <a:ext cx="1590675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B5D4F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704850" y="3619500"/>
            <a:ext cx="533400" cy="28575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04850" y="3876675"/>
            <a:ext cx="21336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1F2429"/>
                </a:solidFill>
                <a:latin typeface="Microsoft YaHei"/>
                <a:ea typeface="Microsoft YaHei"/>
              </a:rPr>
              <a:t>质量与展望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04850" y="4552950"/>
            <a:ext cx="21336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</a:rPr>
              <a:t>怎么证明它是对的、接下来去哪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66750" y="5905500"/>
            <a:ext cx="1209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QUALITY &amp; ROADMAP</a:t>
            </a:r>
            <a:endParaRPr/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33" name="" descr="&lt;Slide style={{ width: 1280, height: 720, background: '#FAFAF7', padding: '20px 70px 0', flexDirection: 'column' }}&gt;&#10;  &lt;Box style={{ height: 90, justifyContent: 'flex-end' }}&gt;&#10;    &lt;Text style={{ fontSize: 34, fontWeight: 'bold', color: '#1F2429' }}&gt;验证门禁：零回归是机器判定，不是口号&lt;/Text&gt;&#10;    &lt;Box style={{ width: 56, height: 3, background: '#185FA5', marginTop: 12 }} /&gt;&#10;  &lt;/Box&gt;&#10;  &lt;Box style={{ height: 520, marginTop: 10, flexDirection: 'row' }}&gt;&#10;    &lt;Box style={{ width: 560, justifyContent: 'center' }}&gt;&#10;      &lt;Text style={{ fontSize: 96, fontWeight: 'bold', color: '#185FA5', lineHeight: 1 }}&gt;357/357&lt;/Text&gt;&#10;      &lt;Text style={{ fontSize: 18, color: '#1F2429', marginTop: 16 }}&gt;全仓回归 · 58 个测试套件 · 5m57s&lt;/Text&gt;&#10;      &lt;Text style={{ fontSize: 15, color: '#6B7280', marginTop: 24, lineHeight: 1.7 }}&gt;307 条既有基线 + 切拍与运行时表项新增用例，&lt;br /&gt;数量严格吻合、一条未坏。&lt;/Text&gt;&#10;    &lt;/Box&gt;&#10;    &lt;Box style={{ flex: 1, flexDirection: 'column', justifyContent: 'center', gap: 26, paddingLeft: 40 }}&gt;&#10;      &lt;Box style={{ border: '1px solid #D9D9D2', background: '#FFFFFF', padding: '20px 24px' }}&gt;&#10;        &lt;Text style={{ fontSize: 18, fontWeight: 'bold', color: '#1F2429' }}&gt;76 / 76 · 编译器套件&lt;/Text&gt;&#10;        &lt;Text style={{ fontSize: 14, color: '#6B7280', lineHeight: 1.6, marginTop: 6 }}&gt;前端/IR/调度单元 + demo1~7 端到端，含 valid 脉宽与等价性断言。&lt;/Text&gt;&#10;      &lt;/Box&gt;&#10;      &lt;Box style={{ border: '1px solid #D9D9D2', background: '#FFFFFF', padding: '20px 24px' }}&gt;&#10;        &lt;Text style={{ fontSize: 18, fontWeight: 'bold', color: '#1F2429' }}&gt;diff 为空 · N=1 逐字节门禁&lt;/Text&gt;&#10;        &lt;Text style={{ fontSize: 14, color: '#6B7280', lineHeight: 1.6, marginTop: 6 }}&gt;未启用切拍/运行时表时，生成代码与改动前基线逐字节一致——默认用户零风险。&lt;/Text&gt;&#10;      &lt;/Box&gt;&#10;      &lt;Box style={{ border: '1px solid #D9D9D2', background: '#FFFFFF', padding: '20px 24px' }}&gt;&#10;        &lt;Text style={{ fontSize: 18, fontWeight: 'bold', color: '#1F2429' }}&gt;7 个 demo · 功能等价验证&lt;/Text&gt;&#10;        &lt;Text style={{ fontSize: 14, color: '#6B7280', lineHeight: 1.6, marginTop: 6 }}&gt;切拍版与单拍版激励等价（容忍 N-1 拍延迟），多轮脉冲间隔 ≥N 混合覆盖。&lt;/Text&gt;&#10;      &lt;/Box&gt;&#10;    &lt;/Box&gt;&#10;  &lt;/Box&gt;&#10;  &lt;Box style={{ height: 30, marginTop: 14, flexDirection: 'row', alignItems: 'center', justifyContent: 'space-between' }}&gt;&#10;    &lt;Box style={{ flexDirection: 'row', alignItems: 'center', gap: 8 }}&gt;&#10;      &lt;Box style={{ width: 10, height: 10, background: '#185FA5' }} /&gt;&#10;      &lt;Text style={{ fontSize: 11, color: '#6B7280' }}&gt;P4C&lt;/Text&gt;&#10;    &lt;/Box&gt;&#10;    &lt;Text style={{ fontSize: 12, color: '#6B7280' }}&gt;12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66750" y="5143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429"/>
                </a:solidFill>
                <a:latin typeface="Microsoft YaHei"/>
                <a:ea typeface="Microsoft YaHei"/>
              </a:rPr>
              <a:t>验证门禁：零回归是机器判定，不是口号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666750" y="1019175"/>
            <a:ext cx="533400" cy="28575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66750" y="2476500"/>
            <a:ext cx="53340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185FA5"/>
                </a:solidFill>
                <a:latin typeface="Microsoft YaHei"/>
                <a:ea typeface="Microsoft YaHei"/>
              </a:rPr>
              <a:t>357/357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66750" y="3733800"/>
            <a:ext cx="5334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F2429"/>
                </a:solidFill>
                <a:latin typeface="Microsoft YaHei"/>
                <a:ea typeface="Microsoft YaHei"/>
              </a:rPr>
              <a:t>全仓回归</a:t>
            </a:r>
            <a:r>
              <a:rPr lang="en-US" sz="1350">
                <a:solidFill>
                  <a:srgbClr val="1F2429"/>
                </a:solidFill>
                <a:latin typeface="Microsoft YaHei"/>
                <a:ea typeface="Microsoft YaHei"/>
              </a:rPr>
              <a:t> · 58 </a:t>
            </a:r>
            <a:r>
              <a:rPr lang="zh-CN" sz="1350">
                <a:solidFill>
                  <a:srgbClr val="1F2429"/>
                </a:solidFill>
                <a:latin typeface="Microsoft YaHei"/>
                <a:ea typeface="Microsoft YaHei"/>
              </a:rPr>
              <a:t>个测试套件</a:t>
            </a:r>
            <a:r>
              <a:rPr lang="en-US" sz="1350">
                <a:solidFill>
                  <a:srgbClr val="1F2429"/>
                </a:solidFill>
                <a:latin typeface="Microsoft YaHei"/>
                <a:ea typeface="Microsoft YaHei"/>
              </a:rPr>
              <a:t> · 5m57s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66750" y="4171950"/>
            <a:ext cx="5334000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>307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条既有基线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切拍与运行时表项新增用例，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数量严格吻合、一条未坏。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381750" y="1885950"/>
            <a:ext cx="5143500" cy="90487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  <a:prstDash val="solid"/>
          </a:ln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610350" y="2076450"/>
            <a:ext cx="468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F2429"/>
                </a:solidFill>
                <a:latin typeface="Microsoft YaHei"/>
                <a:ea typeface="Microsoft YaHei"/>
              </a:rPr>
              <a:t>76 / 76 · </a:t>
            </a:r>
            <a:r>
              <a:rPr lang="zh-CN" sz="1350" b="1">
                <a:solidFill>
                  <a:srgbClr val="1F2429"/>
                </a:solidFill>
                <a:latin typeface="Microsoft YaHei"/>
                <a:ea typeface="Microsoft YaHei"/>
              </a:rPr>
              <a:t>编译器套件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610350" y="2343150"/>
            <a:ext cx="46863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前端</a:t>
            </a:r>
            <a:r>
              <a:rPr lang="en-US" sz="1050">
                <a:solidFill>
                  <a:srgbClr val="6B7280"/>
                </a:solidFill>
                <a:latin typeface="Microsoft YaHei"/>
                <a:ea typeface="Microsoft YaHei"/>
              </a:rPr>
              <a:t>/IR/</a:t>
            </a: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调度单元</a:t>
            </a:r>
            <a:r>
              <a:rPr lang="en-US" sz="1050">
                <a:solidFill>
                  <a:srgbClr val="6B7280"/>
                </a:solidFill>
                <a:latin typeface="Microsoft YaHei"/>
                <a:ea typeface="Microsoft YaHei"/>
              </a:rPr>
              <a:t> + demo1~7 </a:t>
            </a: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端到端，含</a:t>
            </a:r>
            <a:r>
              <a:rPr lang="en-US" sz="1050">
                <a:solidFill>
                  <a:srgbClr val="6B7280"/>
                </a:solidFill>
                <a:latin typeface="Microsoft YaHei"/>
                <a:ea typeface="Microsoft YaHei"/>
              </a:rPr>
              <a:t> valid </a:t>
            </a: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脉宽与等价性断言。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6381750" y="3038475"/>
            <a:ext cx="5143500" cy="116205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  <a:prstDash val="solid"/>
          </a:ln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610350" y="3228975"/>
            <a:ext cx="468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F2429"/>
                </a:solidFill>
                <a:latin typeface="Microsoft YaHei"/>
                <a:ea typeface="Microsoft YaHei"/>
              </a:rPr>
              <a:t>diff </a:t>
            </a:r>
            <a:r>
              <a:rPr lang="zh-CN" sz="1350" b="1">
                <a:solidFill>
                  <a:srgbClr val="1F2429"/>
                </a:solidFill>
                <a:latin typeface="Microsoft YaHei"/>
                <a:ea typeface="Microsoft YaHei"/>
              </a:rPr>
              <a:t>为空</a:t>
            </a:r>
            <a:r>
              <a:rPr lang="en-US" sz="1350" b="1">
                <a:solidFill>
                  <a:srgbClr val="1F2429"/>
                </a:solidFill>
                <a:latin typeface="Microsoft YaHei"/>
                <a:ea typeface="Microsoft YaHei"/>
              </a:rPr>
              <a:t> · N=1 </a:t>
            </a:r>
            <a:r>
              <a:rPr lang="zh-CN" sz="1350" b="1">
                <a:solidFill>
                  <a:srgbClr val="1F2429"/>
                </a:solidFill>
                <a:latin typeface="Microsoft YaHei"/>
                <a:ea typeface="Microsoft YaHei"/>
              </a:rPr>
              <a:t>逐字节门禁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610350" y="3495675"/>
            <a:ext cx="4686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未启用切拍</a:t>
            </a:r>
            <a:r>
              <a:rPr lang="en-US" sz="1050">
                <a:solidFill>
                  <a:srgbClr val="6B7280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运行时表时，生成代码与改动前基线逐字节一致——默认用户零风险。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381750" y="4448175"/>
            <a:ext cx="5143500" cy="90487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  <a:prstDash val="solid"/>
          </a:ln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610350" y="4638675"/>
            <a:ext cx="468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F2429"/>
                </a:solidFill>
                <a:latin typeface="Microsoft YaHei"/>
                <a:ea typeface="Microsoft YaHei"/>
              </a:rPr>
              <a:t>7 </a:t>
            </a:r>
            <a:r>
              <a:rPr lang="zh-CN" sz="1350" b="1">
                <a:solidFill>
                  <a:srgbClr val="1F2429"/>
                </a:solidFill>
                <a:latin typeface="Microsoft YaHei"/>
                <a:ea typeface="Microsoft YaHei"/>
              </a:rPr>
              <a:t>个</a:t>
            </a:r>
            <a:r>
              <a:rPr lang="en-US" sz="1350" b="1">
                <a:solidFill>
                  <a:srgbClr val="1F2429"/>
                </a:solidFill>
                <a:latin typeface="Microsoft YaHei"/>
                <a:ea typeface="Microsoft YaHei"/>
              </a:rPr>
              <a:t> demo · </a:t>
            </a:r>
            <a:r>
              <a:rPr lang="zh-CN" sz="1350" b="1">
                <a:solidFill>
                  <a:srgbClr val="1F2429"/>
                </a:solidFill>
                <a:latin typeface="Microsoft YaHei"/>
                <a:ea typeface="Microsoft YaHei"/>
              </a:rPr>
              <a:t>功能等价验证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610350" y="4905375"/>
            <a:ext cx="46863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切拍版与单拍版激励等价（容忍</a:t>
            </a:r>
            <a:r>
              <a:rPr lang="en-US" sz="1050">
                <a:solidFill>
                  <a:srgbClr val="6B7280"/>
                </a:solidFill>
                <a:latin typeface="Microsoft YaHei"/>
                <a:ea typeface="Microsoft YaHei"/>
              </a:rPr>
              <a:t> N-1 </a:t>
            </a: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拍延迟），多轮脉冲间隔</a:t>
            </a:r>
            <a:r>
              <a:rPr lang="en-US" sz="1050">
                <a:solidFill>
                  <a:srgbClr val="6B7280"/>
                </a:solidFill>
                <a:latin typeface="Microsoft YaHei"/>
                <a:ea typeface="Microsoft YaHei"/>
              </a:rPr>
              <a:t> ≥N </a:t>
            </a: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混合覆盖。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666750" y="6324600"/>
            <a:ext cx="95250" cy="9525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838200" y="6305550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B7280"/>
                </a:solidFill>
                <a:latin typeface="Microsoft YaHei"/>
                <a:ea typeface="Microsoft YaHei"/>
              </a:rPr>
              <a:t>P4C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1172825" y="6305550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12 / 14</a:t>
            </a:r>
            <a:endParaRPr/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52" name="" descr="&lt;Slide style={{ width: 1280, height: 720, background: '#FAFAF7', padding: '20px 70px 0', flexDirection: 'column' }}&gt;&#10;  &lt;Box style={{ height: 90, justifyContent: 'flex-end' }}&gt;&#10;    &lt;Text style={{ fontSize: 34, fontWeight: 'bold', color: '#1F2429' }}&gt;工具链与路线&lt;/Text&gt;&#10;    &lt;Box style={{ width: 56, height: 3, background: '#185FA5', marginTop: 12 }} /&gt;&#10;  &lt;/Box&gt;&#10;  &lt;Box style={{ height: 520, marginTop: 20, flexDirection: 'row' }}&gt;&#10;    &lt;Box style={{ width: 330, flexDirection: 'column', gap: 24, paddingTop: 6, paddingRight: 40 }}&gt;&#10;      &lt;Box style={{ width: 56, height: 3, background: '#185FA5' }} /&gt;&#10;      &lt;Text style={{ fontSize: 24, fontWeight: 'bold', color: '#1F2429', lineHeight: 1.4 }}&gt;怎么用，以及下一步补什么&lt;/Text&gt;&#10;      &lt;Text style={{ fontSize: 15, color: '#6B7280', lineHeight: 1.7 }}&gt;所有能力默认关闭：不加指示、不设参数，生成结果与纯静态版本完全一致。&lt;/Text&gt;&#10;    &lt;/Box&gt;&#10;    &lt;Box style={{ flex: 1, flexDirection: 'column', gap: 18, paddingTop: 4 }}&gt;&#10;      &lt;Box style={{ border: '1px solid #D9D9D2', background: '#FFFFFF', padding: '18px 22px' }}&gt;&#10;        &lt;Text style={{ fontSize: 17, fontWeight: 'bold', color: '#185FA5' }}&gt;用法&lt;/Text&gt;&#10;        &lt;Text style={{ fontSize: 14, color: '#1F2429', lineHeight: 1.7, marginTop: 8, fontFamily: 'JetBrains Mono' }}&gt;sbt compile —— demo .p4 自动生成（p4Stages 可设全局拍数）&lt;br /&gt;P4cMain in.p4 outDir --stages 4 —— CLI 单文件编译&lt;br /&gt;// p4c: stages=N / table X runtime —— 声明级与表级指示&lt;br /&gt;P4C_STAGED_STAGES —— staged 变体目录的拍数预算&lt;/Text&gt;&#10;      &lt;/Box&gt;&#10;      &lt;Box style={{ border: '1px solid #D9D9D2', background: '#FFFFFF', padding: '18px 22px', flex: 1 }}&gt;&#10;        &lt;Text style={{ fontSize: 17, fontWeight: 'bold', color: '#185FA5' }}&gt;路线（对照 XLS 的差距）&lt;/Text&gt;&#10;        &lt;Box style={{ flexDirection: 'row', gap: 30, marginTop: 10 }}&gt;&#10;          &lt;Box style={{ flex: 1, flexDirection: 'column', gap: 10 }}&gt;&#10;            &lt;Text style={{ fontSize: 14, color: '#1F2429', lineHeight: 1.6 }}&gt;&lt;span style={{ fontWeight: 'bold' }}&gt;寄存器最小化&lt;/span&gt;：SDC/min-cut 策略，同拍数预算下插更少的拍寄存器&lt;/Text&gt;&#10;            &lt;Text style={{ fontSize: 14, color: '#1F2429', lineHeight: 1.6 }}&gt;&lt;span style={{ fontWeight: 'bold' }}&gt;延迟模型闭环&lt;/span&gt;：综合反馈替代静态权重表（XLS 的 FDO 思路）&lt;/Text&gt;&#10;          &lt;/Box&gt;&#10;          &lt;Box style={{ flex: 1, flexDirection: 'column', gap: 10 }}&gt;&#10;            &lt;Text style={{ fontSize: 14, color: '#1F2429', lineHeight: 1.6 }}&gt;&lt;span style={{ fontWeight: 'bold' }}&gt;表存储演进&lt;/span&gt;：BaseCbb SRAM 映射（同步读 +1 拍并入 valid 链）、lpm/ternary key&lt;/Text&gt;&#10;            &lt;Text style={{ fontSize: 14, color: '#1F2429', lineHeight: 1.6 }}&gt;&lt;span style={{ fontWeight: 'bold' }}&gt;节点级约束&lt;/span&gt;：强制指定节点进指定级（XLS NodeInCycleConstraint 形态）&lt;/Text&gt;&#10;          &lt;/Box&gt;&#10;        &lt;/Box&gt;&#10;      &lt;/Box&gt;&#10;    &lt;/Box&gt;&#10;  &lt;/Box&gt;&#10;  &lt;Box style={{ height: 30, marginTop: 14, flexDirection: 'row', alignItems: 'center', justifyContent: 'space-between' }}&gt;&#10;    &lt;Box style={{ flexDirection: 'row', alignItems: 'center', gap: 8 }}&gt;&#10;      &lt;Box style={{ width: 10, height: 10, background: '#185FA5' }} /&gt;&#10;      &lt;Text style={{ fontSize: 11, color: '#6B7280' }}&gt;P4C&lt;/Text&gt;&#10;    &lt;/Box&gt;&#10;    &lt;Text style={{ fontSize: 12, color: '#6B7280' }}&gt;13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66750" y="5143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2429"/>
                </a:solidFill>
                <a:latin typeface="Microsoft YaHei"/>
                <a:ea typeface="Microsoft YaHei"/>
              </a:rPr>
              <a:t>工具链与路线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666750" y="1019175"/>
            <a:ext cx="533400" cy="28575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666750" y="1295400"/>
            <a:ext cx="533400" cy="28575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66750" y="1552575"/>
            <a:ext cx="276225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1F2429"/>
                </a:solidFill>
                <a:latin typeface="Microsoft YaHei"/>
                <a:ea typeface="Microsoft YaHei"/>
              </a:rPr>
              <a:t>怎么用，以及下一步补什么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66750" y="2171700"/>
            <a:ext cx="27622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所有能力默认关闭：不加指示、不设参数，生成结果与纯静态版本完全一致。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3810000" y="1276350"/>
            <a:ext cx="7715250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  <a:prstDash val="solid"/>
          </a:ln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4019550" y="1447800"/>
            <a:ext cx="7296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85FA5"/>
                </a:solidFill>
                <a:latin typeface="Microsoft YaHei"/>
                <a:ea typeface="Microsoft YaHei"/>
              </a:rPr>
              <a:t>用法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4019550" y="1724025"/>
            <a:ext cx="7296150" cy="1095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1F2429"/>
                </a:solidFill>
                <a:latin typeface="JetBrains Mono"/>
                <a:ea typeface="JetBrains Mono"/>
              </a:rPr>
              <a:t>sbt compile —— demo .p4 </a:t>
            </a:r>
            <a:r>
              <a:rPr lang="zh-CN" sz="1050">
                <a:solidFill>
                  <a:srgbClr val="1F2429"/>
                </a:solidFill>
                <a:latin typeface="JetBrains Mono"/>
                <a:ea typeface="JetBrains Mono"/>
              </a:rPr>
              <a:t>自动生成（</a:t>
            </a:r>
            <a:r>
              <a:rPr lang="en-US" sz="1050">
                <a:solidFill>
                  <a:srgbClr val="1F2429"/>
                </a:solidFill>
                <a:latin typeface="JetBrains Mono"/>
                <a:ea typeface="JetBrains Mono"/>
              </a:rPr>
              <a:t>p4Stages </a:t>
            </a:r>
            <a:r>
              <a:rPr lang="zh-CN" sz="1050">
                <a:solidFill>
                  <a:srgbClr val="1F2429"/>
                </a:solidFill>
                <a:latin typeface="JetBrains Mono"/>
                <a:ea typeface="JetBrains Mono"/>
              </a:rPr>
              <a:t>可设全局拍数）</a:t>
            </a:r>
            <a:endParaRPr/>
          </a:p>
          <a:p>
            <a:pPr>
              <a:lnSpc>
                <a:spcPct val="170000"/>
              </a:lnSpc>
            </a:pPr>
            <a:r>
              <a:rPr lang="en-US" sz="1050">
                <a:solidFill>
                  <a:srgbClr val="1F2429"/>
                </a:solidFill>
                <a:latin typeface="JetBrains Mono"/>
                <a:ea typeface="JetBrains Mono"/>
              </a:rPr>
              <a:t>P4cMain in.p4 outDir --stages 4 —— CLI </a:t>
            </a:r>
            <a:r>
              <a:rPr lang="zh-CN" sz="1050">
                <a:solidFill>
                  <a:srgbClr val="1F2429"/>
                </a:solidFill>
                <a:latin typeface="JetBrains Mono"/>
                <a:ea typeface="JetBrains Mono"/>
              </a:rPr>
              <a:t>单文件编译</a:t>
            </a:r>
            <a:endParaRPr/>
          </a:p>
          <a:p>
            <a:pPr>
              <a:lnSpc>
                <a:spcPct val="170000"/>
              </a:lnSpc>
            </a:pPr>
            <a:r>
              <a:rPr lang="en-US" sz="1050">
                <a:solidFill>
                  <a:srgbClr val="1F2429"/>
                </a:solidFill>
                <a:latin typeface="JetBrains Mono"/>
                <a:ea typeface="JetBrains Mono"/>
              </a:rPr>
              <a:t>// p4c: stages=N / table X runtime —— </a:t>
            </a:r>
            <a:r>
              <a:rPr lang="zh-CN" sz="1050">
                <a:solidFill>
                  <a:srgbClr val="1F2429"/>
                </a:solidFill>
                <a:latin typeface="JetBrains Mono"/>
                <a:ea typeface="JetBrains Mono"/>
              </a:rPr>
              <a:t>声明级与表级指示</a:t>
            </a:r>
            <a:endParaRPr/>
          </a:p>
          <a:p>
            <a:pPr>
              <a:lnSpc>
                <a:spcPct val="170000"/>
              </a:lnSpc>
            </a:pPr>
            <a:r>
              <a:rPr lang="en-US" sz="1050">
                <a:solidFill>
                  <a:srgbClr val="1F2429"/>
                </a:solidFill>
                <a:latin typeface="JetBrains Mono"/>
                <a:ea typeface="JetBrains Mono"/>
              </a:rPr>
              <a:t>P4C_STAGED_STAGES —— staged </a:t>
            </a:r>
            <a:r>
              <a:rPr lang="zh-CN" sz="1050">
                <a:solidFill>
                  <a:srgbClr val="1F2429"/>
                </a:solidFill>
                <a:latin typeface="JetBrains Mono"/>
                <a:ea typeface="JetBrains Mono"/>
              </a:rPr>
              <a:t>变体目录的拍数预算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3810000" y="3162300"/>
            <a:ext cx="7715250" cy="302895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2"/>
            </a:solidFill>
            <a:prstDash val="solid"/>
          </a:ln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019550" y="3333750"/>
            <a:ext cx="7296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85FA5"/>
                </a:solidFill>
                <a:latin typeface="Microsoft YaHei"/>
                <a:ea typeface="Microsoft YaHei"/>
              </a:rPr>
              <a:t>路线（对照</a:t>
            </a:r>
            <a:r>
              <a:rPr lang="en-US" sz="1275" b="1">
                <a:solidFill>
                  <a:srgbClr val="185FA5"/>
                </a:solidFill>
                <a:latin typeface="Microsoft YaHei"/>
                <a:ea typeface="Microsoft YaHei"/>
              </a:rPr>
              <a:t> XLS </a:t>
            </a:r>
            <a:r>
              <a:rPr lang="zh-CN" sz="1275" b="1">
                <a:solidFill>
                  <a:srgbClr val="185FA5"/>
                </a:solidFill>
                <a:latin typeface="Microsoft YaHei"/>
                <a:ea typeface="Microsoft YaHei"/>
              </a:rPr>
              <a:t>的差距）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019550" y="3629025"/>
            <a:ext cx="3505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 b="1">
                <a:solidFill>
                  <a:srgbClr val="1F2429"/>
                </a:solidFill>
                <a:latin typeface="Microsoft YaHei"/>
                <a:ea typeface="Microsoft YaHei"/>
              </a:rPr>
              <a:t>寄存器最小化</a:t>
            </a:r>
            <a:r>
              <a:rPr lang="zh-CN" sz="1050">
                <a:solidFill>
                  <a:srgbClr val="1F2429"/>
                </a:solidFill>
                <a:latin typeface="Microsoft YaHei"/>
                <a:ea typeface="Microsoft YaHei"/>
              </a:rPr>
              <a:t>：</a:t>
            </a:r>
            <a:r>
              <a:rPr lang="en-US" sz="1050">
                <a:solidFill>
                  <a:srgbClr val="1F2429"/>
                </a:solidFill>
                <a:latin typeface="Microsoft YaHei"/>
                <a:ea typeface="Microsoft YaHei"/>
              </a:rPr>
              <a:t>SDC/min-cut </a:t>
            </a:r>
            <a:r>
              <a:rPr lang="zh-CN" sz="1050">
                <a:solidFill>
                  <a:srgbClr val="1F2429"/>
                </a:solidFill>
                <a:latin typeface="Microsoft YaHei"/>
                <a:ea typeface="Microsoft YaHei"/>
              </a:rPr>
              <a:t>策略，同拍数预算下插更少的拍寄存器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4019550" y="4238625"/>
            <a:ext cx="3505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 b="1">
                <a:solidFill>
                  <a:srgbClr val="1F2429"/>
                </a:solidFill>
                <a:latin typeface="Microsoft YaHei"/>
                <a:ea typeface="Microsoft YaHei"/>
              </a:rPr>
              <a:t>延迟模型闭环</a:t>
            </a:r>
            <a:r>
              <a:rPr lang="zh-CN" sz="1050">
                <a:solidFill>
                  <a:srgbClr val="1F2429"/>
                </a:solidFill>
                <a:latin typeface="Microsoft YaHei"/>
                <a:ea typeface="Microsoft YaHei"/>
              </a:rPr>
              <a:t>：综合反馈替代静态权重表（</a:t>
            </a:r>
            <a:r>
              <a:rPr lang="en-US" sz="1050">
                <a:solidFill>
                  <a:srgbClr val="1F2429"/>
                </a:solidFill>
                <a:latin typeface="Microsoft YaHei"/>
                <a:ea typeface="Microsoft YaHei"/>
              </a:rPr>
              <a:t>XLS </a:t>
            </a:r>
            <a:r>
              <a:rPr lang="zh-CN" sz="1050">
                <a:solidFill>
                  <a:srgbClr val="1F2429"/>
                </a:solidFill>
                <a:latin typeface="Microsoft YaHei"/>
                <a:ea typeface="Microsoft YaHei"/>
              </a:rPr>
              <a:t>的</a:t>
            </a:r>
            <a:r>
              <a:rPr lang="en-US" sz="1050">
                <a:solidFill>
                  <a:srgbClr val="1F2429"/>
                </a:solidFill>
                <a:latin typeface="Microsoft YaHei"/>
                <a:ea typeface="Microsoft YaHei"/>
              </a:rPr>
              <a:t> FDO </a:t>
            </a:r>
            <a:r>
              <a:rPr lang="zh-CN" sz="1050">
                <a:solidFill>
                  <a:srgbClr val="1F2429"/>
                </a:solidFill>
                <a:latin typeface="Microsoft YaHei"/>
                <a:ea typeface="Microsoft YaHei"/>
              </a:rPr>
              <a:t>思路）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7810500" y="3629025"/>
            <a:ext cx="3505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 b="1">
                <a:solidFill>
                  <a:srgbClr val="1F2429"/>
                </a:solidFill>
                <a:latin typeface="Microsoft YaHei"/>
                <a:ea typeface="Microsoft YaHei"/>
              </a:rPr>
              <a:t>表存储演进</a:t>
            </a:r>
            <a:r>
              <a:rPr lang="zh-CN" sz="1050">
                <a:solidFill>
                  <a:srgbClr val="1F2429"/>
                </a:solidFill>
                <a:latin typeface="Microsoft YaHei"/>
                <a:ea typeface="Microsoft YaHei"/>
              </a:rPr>
              <a:t>：</a:t>
            </a:r>
            <a:r>
              <a:rPr lang="en-US" sz="1050">
                <a:solidFill>
                  <a:srgbClr val="1F2429"/>
                </a:solidFill>
                <a:latin typeface="Microsoft YaHei"/>
                <a:ea typeface="Microsoft YaHei"/>
              </a:rPr>
              <a:t>BaseCbb SRAM </a:t>
            </a:r>
            <a:r>
              <a:rPr lang="zh-CN" sz="1050">
                <a:solidFill>
                  <a:srgbClr val="1F2429"/>
                </a:solidFill>
                <a:latin typeface="Microsoft YaHei"/>
                <a:ea typeface="Microsoft YaHei"/>
              </a:rPr>
              <a:t>映射（同步读</a:t>
            </a:r>
            <a:r>
              <a:rPr lang="en-US" sz="1050">
                <a:solidFill>
                  <a:srgbClr val="1F2429"/>
                </a:solidFill>
                <a:latin typeface="Microsoft YaHei"/>
                <a:ea typeface="Microsoft YaHei"/>
              </a:rPr>
              <a:t> +1 </a:t>
            </a:r>
            <a:r>
              <a:rPr lang="zh-CN" sz="1050">
                <a:solidFill>
                  <a:srgbClr val="1F2429"/>
                </a:solidFill>
                <a:latin typeface="Microsoft YaHei"/>
                <a:ea typeface="Microsoft YaHei"/>
              </a:rPr>
              <a:t>拍并入</a:t>
            </a:r>
            <a:r>
              <a:rPr lang="en-US" sz="1050">
                <a:solidFill>
                  <a:srgbClr val="1F2429"/>
                </a:solidFill>
                <a:latin typeface="Microsoft YaHei"/>
                <a:ea typeface="Microsoft YaHei"/>
              </a:rPr>
              <a:t> valid </a:t>
            </a:r>
            <a:r>
              <a:rPr lang="zh-CN" sz="1050">
                <a:solidFill>
                  <a:srgbClr val="1F2429"/>
                </a:solidFill>
                <a:latin typeface="Microsoft YaHei"/>
                <a:ea typeface="Microsoft YaHei"/>
              </a:rPr>
              <a:t>链）、</a:t>
            </a:r>
            <a:r>
              <a:rPr lang="en-US" sz="1050">
                <a:solidFill>
                  <a:srgbClr val="1F2429"/>
                </a:solidFill>
                <a:latin typeface="Microsoft YaHei"/>
                <a:ea typeface="Microsoft YaHei"/>
              </a:rPr>
              <a:t>lpm/ternary key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7810500" y="4238625"/>
            <a:ext cx="3505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 b="1">
                <a:solidFill>
                  <a:srgbClr val="1F2429"/>
                </a:solidFill>
                <a:latin typeface="Microsoft YaHei"/>
                <a:ea typeface="Microsoft YaHei"/>
              </a:rPr>
              <a:t>节点级约束</a:t>
            </a:r>
            <a:r>
              <a:rPr lang="zh-CN" sz="1050">
                <a:solidFill>
                  <a:srgbClr val="1F2429"/>
                </a:solidFill>
                <a:latin typeface="Microsoft YaHei"/>
                <a:ea typeface="Microsoft YaHei"/>
              </a:rPr>
              <a:t>：强制指定节点进指定级（</a:t>
            </a:r>
            <a:r>
              <a:rPr lang="en-US" sz="1050">
                <a:solidFill>
                  <a:srgbClr val="1F2429"/>
                </a:solidFill>
                <a:latin typeface="Microsoft YaHei"/>
                <a:ea typeface="Microsoft YaHei"/>
              </a:rPr>
              <a:t>XLS NodeInCycleConstraint </a:t>
            </a:r>
            <a:r>
              <a:rPr lang="zh-CN" sz="1050">
                <a:solidFill>
                  <a:srgbClr val="1F2429"/>
                </a:solidFill>
                <a:latin typeface="Microsoft YaHei"/>
                <a:ea typeface="Microsoft YaHei"/>
              </a:rPr>
              <a:t>形态）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666750" y="6419850"/>
            <a:ext cx="95250" cy="9525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38200" y="6400800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B7280"/>
                </a:solidFill>
                <a:latin typeface="Microsoft YaHei"/>
                <a:ea typeface="Microsoft YaHei"/>
              </a:rPr>
              <a:t>P4C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1172825" y="6400800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7280"/>
                </a:solidFill>
                <a:latin typeface="Microsoft YaHei"/>
                <a:ea typeface="Microsoft YaHei"/>
              </a:rPr>
              <a:t>13 / 14</a:t>
            </a:r>
            <a:endParaRPr/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71" name="" descr="&lt;Slide style={{ width: 1280, height: 720, background: '#FAFAF7', position: 'relative' }}&gt;&#10;  &lt;Box style={{ position: 'absolute', top: 250, left: 0, width: 1280, alignItems: 'center' }}&gt;&#10;    &lt;Box style={{ width: 56, height: 3, background: '#185FA5' }} /&gt;&#10;    &lt;Text style={{ fontSize: 52, fontWeight: 'bold', color: '#1F2429', marginTop: 36, textAlign: 'center', lineHeight: 1.4 }}&gt;IR 是核心资产&lt;br /&gt;调度、优化与验证都发生在同一张图上&lt;/Text&gt;&#10;    &lt;Text style={{ fontSize: 16, color: '#6B7280', marginTop: 40, letterSpacing: 2 }}&gt;HARDWARE DESIGN · P4C 编译器 · 2026-09 技术评审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5829300" y="2381250"/>
            <a:ext cx="533400" cy="28575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1885950" y="2752725"/>
            <a:ext cx="8420100" cy="1666875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en-US" sz="3900" b="1">
                <a:solidFill>
                  <a:srgbClr val="1F2429"/>
                </a:solidFill>
                <a:latin typeface="Microsoft YaHei"/>
                <a:ea typeface="Microsoft YaHei"/>
              </a:rPr>
              <a:t>IR </a:t>
            </a:r>
            <a:r>
              <a:rPr lang="zh-CN" sz="3900" b="1">
                <a:solidFill>
                  <a:srgbClr val="1F2429"/>
                </a:solidFill>
                <a:latin typeface="Microsoft YaHei"/>
                <a:ea typeface="Microsoft YaHei"/>
              </a:rPr>
              <a:t>是核心资产</a:t>
            </a:r>
            <a:endParaRPr/>
          </a:p>
          <a:p>
            <a:pPr algn="ctr">
              <a:lnSpc>
                <a:spcPct val="140000"/>
              </a:lnSpc>
            </a:pPr>
            <a:r>
              <a:rPr lang="zh-CN" sz="3900" b="1">
                <a:solidFill>
                  <a:srgbClr val="1F2429"/>
                </a:solidFill>
                <a:latin typeface="Microsoft YaHei"/>
                <a:ea typeface="Microsoft YaHei"/>
              </a:rPr>
              <a:t>调度、优化与验证都发生在同一张图上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3819525" y="4800600"/>
            <a:ext cx="4562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6B7280"/>
                </a:solidFill>
                <a:latin typeface="Microsoft YaHei"/>
                <a:ea typeface="Microsoft YaHei"/>
              </a:rPr>
              <a:t>HARDWARE DESIGN · P4C </a:t>
            </a:r>
            <a:r>
              <a:rPr lang="zh-CN" sz="1200" spc="150">
                <a:solidFill>
                  <a:srgbClr val="6B7280"/>
                </a:solidFill>
                <a:latin typeface="Microsoft YaHei"/>
                <a:ea typeface="Microsoft YaHei"/>
              </a:rPr>
              <a:t>编译器</a:t>
            </a:r>
            <a:r>
              <a:rPr lang="en-US" sz="1200" spc="150">
                <a:solidFill>
                  <a:srgbClr val="6B7280"/>
                </a:solidFill>
                <a:latin typeface="Microsoft YaHei"/>
                <a:ea typeface="Microsoft YaHei"/>
              </a:rPr>
              <a:t> · 2026-09 </a:t>
            </a:r>
            <a:r>
              <a:rPr lang="zh-CN" sz="1200" spc="150">
                <a:solidFill>
                  <a:srgbClr val="6B7280"/>
                </a:solidFill>
                <a:latin typeface="Microsoft YaHei"/>
                <a:ea typeface="Microsoft YaHei"/>
              </a:rPr>
              <a:t>技术评审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2026-09-05T15:35:58Z</dcterms:created>
  <dcterms:modified xsi:type="dcterms:W3CDTF">2026-09-05T15:35:58Z</dcterms:modified>
</cp:coreProperties>
</file>